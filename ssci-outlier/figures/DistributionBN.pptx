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23" d="100"/>
          <a:sy n="223" d="100"/>
        </p:scale>
        <p:origin x="-1816" y="8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0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37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3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2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4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6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9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9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1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9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2E7A-7761-47C3-850A-BE233BAFE441}" type="datetimeFigureOut">
              <a:rPr lang="en-US" smtClean="0"/>
              <a:pPr/>
              <a:t>2014-10-09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5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248888" y="1718805"/>
            <a:ext cx="2458370" cy="1000566"/>
            <a:chOff x="707564" y="1767045"/>
            <a:chExt cx="2962887" cy="1033614"/>
          </a:xfrm>
        </p:grpSpPr>
        <p:grpSp>
          <p:nvGrpSpPr>
            <p:cNvPr id="9" name="Group 8"/>
            <p:cNvGrpSpPr/>
            <p:nvPr/>
          </p:nvGrpSpPr>
          <p:grpSpPr>
            <a:xfrm>
              <a:off x="1295400" y="2364058"/>
              <a:ext cx="753836" cy="430271"/>
              <a:chOff x="1295400" y="2286000"/>
              <a:chExt cx="1066800" cy="533400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736596" y="2370387"/>
              <a:ext cx="726121" cy="430272"/>
              <a:chOff x="3429000" y="2260930"/>
              <a:chExt cx="1066800" cy="5334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cxnSp>
          <p:nvCxnSpPr>
            <p:cNvPr id="11" name="Straight Arrow Connector 10"/>
            <p:cNvCxnSpPr>
              <a:stCxn id="4" idx="6"/>
            </p:cNvCxnSpPr>
            <p:nvPr/>
          </p:nvCxnSpPr>
          <p:spPr>
            <a:xfrm>
              <a:off x="2049236" y="2579194"/>
              <a:ext cx="6939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1181506" y="1767045"/>
              <a:ext cx="1067613" cy="372950"/>
              <a:chOff x="796731" y="1687288"/>
              <a:chExt cx="1149737" cy="409211"/>
            </a:xfrm>
          </p:grpSpPr>
          <p:sp>
            <p:nvSpPr>
              <p:cNvPr id="13" name="Rectangular Callout 12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96731" y="1723549"/>
                <a:ext cx="1149737" cy="261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50</a:t>
                </a:r>
                <a:endParaRPr lang="en-US" sz="900" dirty="0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2396216" y="1772229"/>
              <a:ext cx="1274235" cy="406328"/>
              <a:chOff x="3639219" y="1589493"/>
              <a:chExt cx="1328643" cy="457200"/>
            </a:xfrm>
          </p:grpSpPr>
          <p:sp>
            <p:nvSpPr>
              <p:cNvPr id="12" name="Rectangular Callout 11"/>
              <p:cNvSpPr/>
              <p:nvPr/>
            </p:nvSpPr>
            <p:spPr>
              <a:xfrm>
                <a:off x="3657600" y="1589493"/>
                <a:ext cx="1295400" cy="457200"/>
              </a:xfrm>
              <a:prstGeom prst="wedgeRectCallout">
                <a:avLst>
                  <a:gd name="adj1" fmla="val -20297"/>
                  <a:gd name="adj2" fmla="val 87293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639219" y="1643202"/>
                <a:ext cx="1328643" cy="393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 smtClean="0"/>
                  <a:t>P(F2=0|F1=0)= % 90</a:t>
                </a:r>
              </a:p>
              <a:p>
                <a:r>
                  <a:rPr lang="en-US" sz="800" dirty="0" smtClean="0"/>
                  <a:t>P(F2=1|F1=1)= % 90</a:t>
                </a:r>
                <a:endParaRPr lang="en-US" sz="800" dirty="0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707564" y="2187651"/>
              <a:ext cx="800506" cy="286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Normal</a:t>
              </a:r>
              <a:endParaRPr lang="en-US" sz="1200" b="1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21315" y="2941893"/>
            <a:ext cx="2550674" cy="851246"/>
            <a:chOff x="783369" y="3312284"/>
            <a:chExt cx="3081151" cy="997930"/>
          </a:xfrm>
        </p:grpSpPr>
        <p:grpSp>
          <p:nvGrpSpPr>
            <p:cNvPr id="22" name="Group 21"/>
            <p:cNvGrpSpPr/>
            <p:nvPr/>
          </p:nvGrpSpPr>
          <p:grpSpPr>
            <a:xfrm>
              <a:off x="1498213" y="3873613"/>
              <a:ext cx="753836" cy="430271"/>
              <a:chOff x="1295400" y="2286000"/>
              <a:chExt cx="1066800" cy="533400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2939409" y="3879942"/>
              <a:ext cx="726121" cy="430272"/>
              <a:chOff x="3429000" y="2260930"/>
              <a:chExt cx="1066800" cy="533400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1328605" y="3384783"/>
              <a:ext cx="1067613" cy="372950"/>
              <a:chOff x="796731" y="1687288"/>
              <a:chExt cx="1149737" cy="409211"/>
            </a:xfrm>
          </p:grpSpPr>
          <p:sp>
            <p:nvSpPr>
              <p:cNvPr id="30" name="Rectangular Callout 29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796731" y="1723549"/>
                <a:ext cx="1149737" cy="289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50</a:t>
                </a:r>
                <a:endParaRPr lang="en-US" sz="900" dirty="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2769567" y="3312284"/>
              <a:ext cx="1094953" cy="406328"/>
              <a:chOff x="3599821" y="1589493"/>
              <a:chExt cx="1141705" cy="457200"/>
            </a:xfrm>
          </p:grpSpPr>
          <p:sp>
            <p:nvSpPr>
              <p:cNvPr id="28" name="Rectangular Callout 27"/>
              <p:cNvSpPr/>
              <p:nvPr/>
            </p:nvSpPr>
            <p:spPr>
              <a:xfrm>
                <a:off x="3657600" y="1589493"/>
                <a:ext cx="926480" cy="457200"/>
              </a:xfrm>
              <a:prstGeom prst="wedgeRectCallout">
                <a:avLst>
                  <a:gd name="adj1" fmla="val -20297"/>
                  <a:gd name="adj2" fmla="val 87293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599821" y="1615680"/>
                <a:ext cx="1141705" cy="297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smtClean="0"/>
                  <a:t>P(F2=1)= % 50</a:t>
                </a: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783369" y="3741442"/>
              <a:ext cx="800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Outlier</a:t>
              </a:r>
              <a:endParaRPr lang="en-US" sz="1200" b="1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236829" y="1726716"/>
            <a:ext cx="2286009" cy="1000566"/>
            <a:chOff x="707564" y="1767045"/>
            <a:chExt cx="2755153" cy="1033614"/>
          </a:xfrm>
        </p:grpSpPr>
        <p:grpSp>
          <p:nvGrpSpPr>
            <p:cNvPr id="38" name="Group 37"/>
            <p:cNvGrpSpPr/>
            <p:nvPr/>
          </p:nvGrpSpPr>
          <p:grpSpPr>
            <a:xfrm>
              <a:off x="1295400" y="2364058"/>
              <a:ext cx="753836" cy="430271"/>
              <a:chOff x="1295400" y="2286000"/>
              <a:chExt cx="1066800" cy="533400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2736596" y="2370387"/>
              <a:ext cx="726121" cy="430272"/>
              <a:chOff x="3429000" y="2260930"/>
              <a:chExt cx="1066800" cy="533400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1181506" y="1767045"/>
              <a:ext cx="1067613" cy="372950"/>
              <a:chOff x="796731" y="1687288"/>
              <a:chExt cx="1149737" cy="409211"/>
            </a:xfrm>
          </p:grpSpPr>
          <p:sp>
            <p:nvSpPr>
              <p:cNvPr id="46" name="Rectangular Callout 45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796731" y="1723549"/>
                <a:ext cx="1149737" cy="261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50</a:t>
                </a:r>
                <a:endParaRPr lang="en-US" sz="900" dirty="0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707564" y="2187651"/>
              <a:ext cx="800506" cy="286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Normal</a:t>
              </a:r>
              <a:endParaRPr lang="en-US" sz="1200" b="1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300226" y="2961097"/>
            <a:ext cx="2385943" cy="789404"/>
            <a:chOff x="783369" y="3384783"/>
            <a:chExt cx="2882161" cy="925431"/>
          </a:xfrm>
        </p:grpSpPr>
        <p:grpSp>
          <p:nvGrpSpPr>
            <p:cNvPr id="53" name="Group 52"/>
            <p:cNvGrpSpPr/>
            <p:nvPr/>
          </p:nvGrpSpPr>
          <p:grpSpPr>
            <a:xfrm>
              <a:off x="1498213" y="3873613"/>
              <a:ext cx="753836" cy="430271"/>
              <a:chOff x="1295400" y="2286000"/>
              <a:chExt cx="1066800" cy="533400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2939409" y="3879942"/>
              <a:ext cx="726121" cy="430272"/>
              <a:chOff x="3429000" y="2260930"/>
              <a:chExt cx="1066800" cy="533400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328605" y="3384783"/>
              <a:ext cx="1067613" cy="372950"/>
              <a:chOff x="796731" y="1687288"/>
              <a:chExt cx="1149737" cy="409211"/>
            </a:xfrm>
          </p:grpSpPr>
          <p:sp>
            <p:nvSpPr>
              <p:cNvPr id="60" name="Rectangular Callout 59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796731" y="1723549"/>
                <a:ext cx="1149737" cy="289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50</a:t>
                </a:r>
                <a:endParaRPr lang="en-US" sz="900" dirty="0"/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783369" y="3741442"/>
              <a:ext cx="800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Outlier</a:t>
              </a:r>
              <a:endParaRPr lang="en-US" sz="1200" b="1" dirty="0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048328" y="1708164"/>
            <a:ext cx="2458370" cy="1000566"/>
            <a:chOff x="707564" y="1767045"/>
            <a:chExt cx="2962887" cy="1033614"/>
          </a:xfrm>
        </p:grpSpPr>
        <p:grpSp>
          <p:nvGrpSpPr>
            <p:cNvPr id="67" name="Group 66"/>
            <p:cNvGrpSpPr/>
            <p:nvPr/>
          </p:nvGrpSpPr>
          <p:grpSpPr>
            <a:xfrm>
              <a:off x="1295400" y="2364058"/>
              <a:ext cx="753836" cy="430271"/>
              <a:chOff x="1295400" y="2286000"/>
              <a:chExt cx="1066800" cy="533400"/>
            </a:xfrm>
          </p:grpSpPr>
          <p:sp>
            <p:nvSpPr>
              <p:cNvPr id="79" name="Oval 78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2736596" y="2370387"/>
              <a:ext cx="726121" cy="430272"/>
              <a:chOff x="3429000" y="2260930"/>
              <a:chExt cx="1066800" cy="533400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cxnSp>
          <p:nvCxnSpPr>
            <p:cNvPr id="69" name="Straight Arrow Connector 68"/>
            <p:cNvCxnSpPr>
              <a:stCxn id="79" idx="6"/>
            </p:cNvCxnSpPr>
            <p:nvPr/>
          </p:nvCxnSpPr>
          <p:spPr>
            <a:xfrm>
              <a:off x="2049236" y="2579194"/>
              <a:ext cx="6939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Group 69"/>
            <p:cNvGrpSpPr/>
            <p:nvPr/>
          </p:nvGrpSpPr>
          <p:grpSpPr>
            <a:xfrm>
              <a:off x="1181506" y="1767045"/>
              <a:ext cx="1067613" cy="372950"/>
              <a:chOff x="796731" y="1687288"/>
              <a:chExt cx="1149737" cy="409211"/>
            </a:xfrm>
          </p:grpSpPr>
          <p:sp>
            <p:nvSpPr>
              <p:cNvPr id="75" name="Rectangular Callout 74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796731" y="1723549"/>
                <a:ext cx="1149737" cy="261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</a:t>
                </a:r>
                <a:r>
                  <a:rPr lang="en-US" sz="900" dirty="0"/>
                  <a:t>9</a:t>
                </a:r>
                <a:r>
                  <a:rPr lang="en-US" sz="900" dirty="0" smtClean="0"/>
                  <a:t>0</a:t>
                </a:r>
                <a:endParaRPr lang="en-US" sz="900" dirty="0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2396216" y="1772229"/>
              <a:ext cx="1274235" cy="406328"/>
              <a:chOff x="3639219" y="1589493"/>
              <a:chExt cx="1328643" cy="457200"/>
            </a:xfrm>
          </p:grpSpPr>
          <p:sp>
            <p:nvSpPr>
              <p:cNvPr id="73" name="Rectangular Callout 72"/>
              <p:cNvSpPr/>
              <p:nvPr/>
            </p:nvSpPr>
            <p:spPr>
              <a:xfrm>
                <a:off x="3657600" y="1589493"/>
                <a:ext cx="1295400" cy="457200"/>
              </a:xfrm>
              <a:prstGeom prst="wedgeRectCallout">
                <a:avLst>
                  <a:gd name="adj1" fmla="val -20297"/>
                  <a:gd name="adj2" fmla="val 87293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3639219" y="1643202"/>
                <a:ext cx="1328643" cy="393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 smtClean="0"/>
                  <a:t>P(F2=0|F1=0)= % 10</a:t>
                </a:r>
              </a:p>
              <a:p>
                <a:r>
                  <a:rPr lang="en-US" sz="800" dirty="0" smtClean="0"/>
                  <a:t>P(F2=1|F1=1)= % 90</a:t>
                </a:r>
                <a:endParaRPr lang="en-US" sz="800" dirty="0"/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707564" y="2187651"/>
              <a:ext cx="800506" cy="286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Normal</a:t>
              </a:r>
              <a:endParaRPr lang="en-US" sz="1200" b="1" dirty="0"/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6048328" y="2901551"/>
            <a:ext cx="2385944" cy="789404"/>
            <a:chOff x="783369" y="3384783"/>
            <a:chExt cx="2882161" cy="925431"/>
          </a:xfrm>
        </p:grpSpPr>
        <p:grpSp>
          <p:nvGrpSpPr>
            <p:cNvPr id="82" name="Group 81"/>
            <p:cNvGrpSpPr/>
            <p:nvPr/>
          </p:nvGrpSpPr>
          <p:grpSpPr>
            <a:xfrm>
              <a:off x="1498213" y="3873613"/>
              <a:ext cx="753836" cy="430271"/>
              <a:chOff x="1295400" y="2286000"/>
              <a:chExt cx="1066800" cy="533400"/>
            </a:xfrm>
          </p:grpSpPr>
          <p:sp>
            <p:nvSpPr>
              <p:cNvPr id="93" name="Oval 92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2939409" y="3879942"/>
              <a:ext cx="726121" cy="430272"/>
              <a:chOff x="3429000" y="2260930"/>
              <a:chExt cx="1066800" cy="533400"/>
            </a:xfrm>
          </p:grpSpPr>
          <p:sp>
            <p:nvSpPr>
              <p:cNvPr id="91" name="Oval 90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1328605" y="3384783"/>
              <a:ext cx="1067613" cy="372950"/>
              <a:chOff x="796731" y="1687288"/>
              <a:chExt cx="1149737" cy="409211"/>
            </a:xfrm>
          </p:grpSpPr>
          <p:sp>
            <p:nvSpPr>
              <p:cNvPr id="89" name="Rectangular Callout 88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796731" y="1723549"/>
                <a:ext cx="1149737" cy="296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</a:t>
                </a:r>
                <a:r>
                  <a:rPr lang="en-US" sz="900" dirty="0"/>
                  <a:t>1</a:t>
                </a:r>
                <a:r>
                  <a:rPr lang="en-US" sz="900" dirty="0" smtClean="0"/>
                  <a:t>0</a:t>
                </a:r>
                <a:endParaRPr lang="en-US" sz="900" dirty="0"/>
              </a:p>
            </p:txBody>
          </p:sp>
        </p:grpSp>
        <p:sp>
          <p:nvSpPr>
            <p:cNvPr id="86" name="TextBox 85"/>
            <p:cNvSpPr txBox="1"/>
            <p:nvPr/>
          </p:nvSpPr>
          <p:spPr>
            <a:xfrm>
              <a:off x="783369" y="3741442"/>
              <a:ext cx="800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Outlier</a:t>
              </a:r>
              <a:endParaRPr lang="en-US" sz="1200" b="1" dirty="0"/>
            </a:p>
          </p:txBody>
        </p:sp>
      </p:grpSp>
      <p:cxnSp>
        <p:nvCxnSpPr>
          <p:cNvPr id="96" name="Straight Connector 95"/>
          <p:cNvCxnSpPr/>
          <p:nvPr/>
        </p:nvCxnSpPr>
        <p:spPr>
          <a:xfrm>
            <a:off x="3048000" y="1600200"/>
            <a:ext cx="0" cy="236220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5962493" y="1600200"/>
            <a:ext cx="0" cy="2381901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566031" y="3886200"/>
            <a:ext cx="54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(a)</a:t>
            </a:r>
            <a:endParaRPr lang="en-US" b="1" dirty="0"/>
          </a:p>
        </p:txBody>
      </p:sp>
      <p:sp>
        <p:nvSpPr>
          <p:cNvPr id="102" name="TextBox 101"/>
          <p:cNvSpPr txBox="1"/>
          <p:nvPr/>
        </p:nvSpPr>
        <p:spPr>
          <a:xfrm>
            <a:off x="4404341" y="3962400"/>
            <a:ext cx="54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(b)</a:t>
            </a:r>
            <a:endParaRPr lang="en-US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7179379" y="3886200"/>
            <a:ext cx="54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(c)</a:t>
            </a:r>
            <a:endParaRPr lang="en-US" b="1" dirty="0"/>
          </a:p>
        </p:txBody>
      </p:sp>
      <p:sp>
        <p:nvSpPr>
          <p:cNvPr id="104" name="Rectangular Callout 103"/>
          <p:cNvSpPr/>
          <p:nvPr/>
        </p:nvSpPr>
        <p:spPr>
          <a:xfrm>
            <a:off x="4887701" y="1725686"/>
            <a:ext cx="735563" cy="346603"/>
          </a:xfrm>
          <a:prstGeom prst="wedgeRectCallout">
            <a:avLst>
              <a:gd name="adj1" fmla="val -20297"/>
              <a:gd name="adj2" fmla="val 872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4841828" y="1745538"/>
            <a:ext cx="906437" cy="22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P(F2=1)= % 50</a:t>
            </a:r>
          </a:p>
        </p:txBody>
      </p:sp>
      <p:grpSp>
        <p:nvGrpSpPr>
          <p:cNvPr id="108" name="Group 107"/>
          <p:cNvGrpSpPr/>
          <p:nvPr/>
        </p:nvGrpSpPr>
        <p:grpSpPr>
          <a:xfrm>
            <a:off x="4856986" y="2871996"/>
            <a:ext cx="1057260" cy="393336"/>
            <a:chOff x="3566670" y="4255532"/>
            <a:chExt cx="1057260" cy="393336"/>
          </a:xfrm>
        </p:grpSpPr>
        <p:sp>
          <p:nvSpPr>
            <p:cNvPr id="106" name="Rectangular Callout 105"/>
            <p:cNvSpPr/>
            <p:nvPr/>
          </p:nvSpPr>
          <p:spPr>
            <a:xfrm>
              <a:off x="3580820" y="4255532"/>
              <a:ext cx="1030807" cy="393336"/>
            </a:xfrm>
            <a:prstGeom prst="wedgeRectCallout">
              <a:avLst>
                <a:gd name="adj1" fmla="val -20297"/>
                <a:gd name="adj2" fmla="val 8729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566670" y="4256539"/>
              <a:ext cx="10572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P(F2=0|F1=0)= % 90</a:t>
              </a:r>
            </a:p>
            <a:p>
              <a:r>
                <a:rPr lang="en-US" sz="800" dirty="0" smtClean="0"/>
                <a:t>P(F2=1|F1=1)= % 90</a:t>
              </a:r>
              <a:endParaRPr lang="en-US" sz="800" dirty="0"/>
            </a:p>
          </p:txBody>
        </p:sp>
      </p:grpSp>
      <p:cxnSp>
        <p:nvCxnSpPr>
          <p:cNvPr id="109" name="Straight Arrow Connector 108"/>
          <p:cNvCxnSpPr/>
          <p:nvPr/>
        </p:nvCxnSpPr>
        <p:spPr>
          <a:xfrm>
            <a:off x="4526610" y="3566987"/>
            <a:ext cx="57579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93" idx="6"/>
          </p:cNvCxnSpPr>
          <p:nvPr/>
        </p:nvCxnSpPr>
        <p:spPr>
          <a:xfrm>
            <a:off x="7264147" y="3502042"/>
            <a:ext cx="604694" cy="133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/>
          <p:cNvGrpSpPr/>
          <p:nvPr/>
        </p:nvGrpSpPr>
        <p:grpSpPr>
          <a:xfrm>
            <a:off x="7617154" y="2804284"/>
            <a:ext cx="1057260" cy="393336"/>
            <a:chOff x="3566670" y="4255532"/>
            <a:chExt cx="1057260" cy="393336"/>
          </a:xfrm>
        </p:grpSpPr>
        <p:sp>
          <p:nvSpPr>
            <p:cNvPr id="112" name="Rectangular Callout 111"/>
            <p:cNvSpPr/>
            <p:nvPr/>
          </p:nvSpPr>
          <p:spPr>
            <a:xfrm>
              <a:off x="3580820" y="4255532"/>
              <a:ext cx="1030807" cy="393336"/>
            </a:xfrm>
            <a:prstGeom prst="wedgeRectCallout">
              <a:avLst>
                <a:gd name="adj1" fmla="val -20297"/>
                <a:gd name="adj2" fmla="val 8729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566670" y="4256539"/>
              <a:ext cx="10572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P(F2=0|F1=0)= </a:t>
              </a:r>
              <a:r>
                <a:rPr lang="en-US" sz="800" smtClean="0"/>
                <a:t>% 10</a:t>
              </a:r>
              <a:endParaRPr lang="en-US" sz="800" dirty="0" smtClean="0"/>
            </a:p>
            <a:p>
              <a:r>
                <a:rPr lang="en-US" sz="800" dirty="0" smtClean="0"/>
                <a:t>P(F2=1|F1=1)= % 90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72986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2133600" y="1676400"/>
            <a:ext cx="1905000" cy="685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286000" y="17526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 smtClean="0"/>
              <a:t>HomeTeam</a:t>
            </a:r>
            <a:endParaRPr lang="en-US" sz="1400" b="1" dirty="0" smtClean="0"/>
          </a:p>
          <a:p>
            <a:pPr algn="ctr"/>
            <a:r>
              <a:rPr lang="en-US" sz="1000" dirty="0" err="1" smtClean="0"/>
              <a:t>TeamID</a:t>
            </a:r>
            <a:r>
              <a:rPr lang="en-US" sz="1000" dirty="0" smtClean="0"/>
              <a:t>, </a:t>
            </a:r>
            <a:r>
              <a:rPr lang="en-US" sz="1000" dirty="0" err="1" smtClean="0"/>
              <a:t>goals,shotEff</a:t>
            </a:r>
            <a:r>
              <a:rPr lang="en-US" sz="1000" dirty="0" smtClean="0"/>
              <a:t>,…</a:t>
            </a:r>
            <a:endParaRPr lang="en-US" sz="1000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3200400" y="1371600"/>
            <a:ext cx="1219200" cy="33851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828800" y="2362200"/>
            <a:ext cx="1143000" cy="40011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Shot Efficiency, Tackle Efficiency </a:t>
            </a:r>
            <a:endParaRPr lang="en-US" sz="1000" dirty="0"/>
          </a:p>
        </p:txBody>
      </p:sp>
      <p:grpSp>
        <p:nvGrpSpPr>
          <p:cNvPr id="10" name="Group 9"/>
          <p:cNvGrpSpPr/>
          <p:nvPr/>
        </p:nvGrpSpPr>
        <p:grpSpPr>
          <a:xfrm>
            <a:off x="3733800" y="685800"/>
            <a:ext cx="1447799" cy="668944"/>
            <a:chOff x="1676400" y="2302856"/>
            <a:chExt cx="1447799" cy="668944"/>
          </a:xfrm>
        </p:grpSpPr>
        <p:sp>
          <p:nvSpPr>
            <p:cNvPr id="11" name="Oval 10"/>
            <p:cNvSpPr/>
            <p:nvPr/>
          </p:nvSpPr>
          <p:spPr>
            <a:xfrm>
              <a:off x="1676400" y="2302856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52600" y="243840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/>
                <a:t>Match</a:t>
              </a:r>
            </a:p>
            <a:p>
              <a:pPr algn="ctr"/>
              <a:r>
                <a:rPr lang="en-US" sz="1000" dirty="0" err="1" smtClean="0"/>
                <a:t>MatchID</a:t>
              </a:r>
              <a:r>
                <a:rPr lang="en-US" sz="1000" dirty="0" smtClean="0"/>
                <a:t>, Result</a:t>
              </a:r>
              <a:endParaRPr lang="en-US" sz="10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76800" y="1676400"/>
            <a:ext cx="1905000" cy="685800"/>
            <a:chOff x="1676400" y="2150456"/>
            <a:chExt cx="1905000" cy="821344"/>
          </a:xfrm>
        </p:grpSpPr>
        <p:sp>
          <p:nvSpPr>
            <p:cNvPr id="23" name="Oval 22"/>
            <p:cNvSpPr/>
            <p:nvPr/>
          </p:nvSpPr>
          <p:spPr>
            <a:xfrm>
              <a:off x="1676400" y="2150456"/>
              <a:ext cx="1905000" cy="8213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828800" y="2150456"/>
              <a:ext cx="16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 smtClean="0"/>
                <a:t>AwayTeam</a:t>
              </a:r>
              <a:endParaRPr lang="en-US" sz="1400" b="1" dirty="0" smtClean="0"/>
            </a:p>
            <a:p>
              <a:pPr algn="ctr"/>
              <a:r>
                <a:rPr lang="en-US" sz="1000" dirty="0" err="1" smtClean="0"/>
                <a:t>TeamID</a:t>
              </a:r>
              <a:r>
                <a:rPr lang="en-US" sz="1000" dirty="0" smtClean="0"/>
                <a:t>, </a:t>
              </a:r>
              <a:r>
                <a:rPr lang="en-US" sz="1000" dirty="0" err="1" smtClean="0"/>
                <a:t>goals,shotEff</a:t>
              </a:r>
              <a:r>
                <a:rPr lang="en-US" sz="1000" dirty="0" smtClean="0"/>
                <a:t>,…</a:t>
              </a:r>
              <a:endParaRPr lang="en-US" sz="1000" dirty="0"/>
            </a:p>
          </p:txBody>
        </p:sp>
      </p:grpSp>
      <p:cxnSp>
        <p:nvCxnSpPr>
          <p:cNvPr id="28" name="Straight Arrow Connector 27"/>
          <p:cNvCxnSpPr/>
          <p:nvPr/>
        </p:nvCxnSpPr>
        <p:spPr>
          <a:xfrm>
            <a:off x="4419600" y="1371600"/>
            <a:ext cx="1371600" cy="3216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00600" y="1219200"/>
            <a:ext cx="1143000" cy="246221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err="1" smtClean="0"/>
              <a:t>TeamFormation</a:t>
            </a:r>
            <a:endParaRPr lang="en-US" sz="10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2362200" y="2743200"/>
            <a:ext cx="1447799" cy="668944"/>
            <a:chOff x="838200" y="2590800"/>
            <a:chExt cx="1447799" cy="668944"/>
          </a:xfrm>
        </p:grpSpPr>
        <p:sp>
          <p:nvSpPr>
            <p:cNvPr id="39" name="Oval 38"/>
            <p:cNvSpPr/>
            <p:nvPr/>
          </p:nvSpPr>
          <p:spPr>
            <a:xfrm>
              <a:off x="838200" y="25908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90600" y="266700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 smtClean="0"/>
                <a:t>HomePlayer</a:t>
              </a:r>
              <a:endParaRPr lang="en-US" sz="1400" b="1" dirty="0" smtClean="0"/>
            </a:p>
            <a:p>
              <a:pPr algn="ctr"/>
              <a:r>
                <a:rPr lang="en-US" sz="1000" dirty="0" err="1" smtClean="0"/>
                <a:t>PlayerID</a:t>
              </a:r>
              <a:r>
                <a:rPr lang="en-US" sz="1000" dirty="0" smtClean="0"/>
                <a:t>, Position</a:t>
              </a:r>
              <a:endParaRPr lang="en-US" sz="1000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181600" y="2743200"/>
            <a:ext cx="1447799" cy="668944"/>
            <a:chOff x="838200" y="2590800"/>
            <a:chExt cx="1447799" cy="668944"/>
          </a:xfrm>
        </p:grpSpPr>
        <p:sp>
          <p:nvSpPr>
            <p:cNvPr id="45" name="Oval 44"/>
            <p:cNvSpPr/>
            <p:nvPr/>
          </p:nvSpPr>
          <p:spPr>
            <a:xfrm>
              <a:off x="838200" y="25908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0600" y="266700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 smtClean="0"/>
                <a:t>AwayPlayer</a:t>
              </a:r>
              <a:endParaRPr lang="en-US" sz="1400" b="1" dirty="0" smtClean="0"/>
            </a:p>
            <a:p>
              <a:pPr algn="ctr"/>
              <a:r>
                <a:rPr lang="en-US" sz="1000" dirty="0" err="1" smtClean="0"/>
                <a:t>PlayerID</a:t>
              </a:r>
              <a:r>
                <a:rPr lang="en-US" sz="1000" dirty="0" smtClean="0"/>
                <a:t>, Position</a:t>
              </a:r>
              <a:endParaRPr lang="en-US" sz="1000" dirty="0"/>
            </a:p>
          </p:txBody>
        </p:sp>
      </p:grpSp>
      <p:cxnSp>
        <p:nvCxnSpPr>
          <p:cNvPr id="50" name="Straight Arrow Connector 49"/>
          <p:cNvCxnSpPr>
            <a:stCxn id="17" idx="4"/>
            <a:endCxn id="39" idx="0"/>
          </p:cNvCxnSpPr>
          <p:nvPr/>
        </p:nvCxnSpPr>
        <p:spPr>
          <a:xfrm>
            <a:off x="3086100" y="23622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23" idx="4"/>
            <a:endCxn id="45" idx="0"/>
          </p:cNvCxnSpPr>
          <p:nvPr/>
        </p:nvCxnSpPr>
        <p:spPr>
          <a:xfrm>
            <a:off x="5829300" y="2362200"/>
            <a:ext cx="762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895600" y="1295400"/>
            <a:ext cx="1143000" cy="246221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err="1" smtClean="0"/>
              <a:t>TeamFormation</a:t>
            </a:r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>
          <a:xfrm>
            <a:off x="3200400" y="2362200"/>
            <a:ext cx="1143000" cy="246221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Goals, </a:t>
            </a:r>
            <a:r>
              <a:rPr lang="en-US" sz="1000" dirty="0" err="1" smtClean="0"/>
              <a:t>TimePlayed</a:t>
            </a:r>
            <a:endParaRPr lang="en-US" sz="1000" dirty="0"/>
          </a:p>
        </p:txBody>
      </p:sp>
      <p:sp>
        <p:nvSpPr>
          <p:cNvPr id="61" name="TextBox 60"/>
          <p:cNvSpPr txBox="1"/>
          <p:nvPr/>
        </p:nvSpPr>
        <p:spPr>
          <a:xfrm>
            <a:off x="4648200" y="2362200"/>
            <a:ext cx="1143000" cy="40011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Shot Efficiency, Tackle Efficiency </a:t>
            </a:r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6019800" y="2438400"/>
            <a:ext cx="1143000" cy="246221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Goals, </a:t>
            </a:r>
            <a:r>
              <a:rPr lang="en-US" sz="1000" dirty="0" err="1" smtClean="0"/>
              <a:t>TimePlayed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1040131" y="2379056"/>
            <a:ext cx="7620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8" name="TextBox 17"/>
          <p:cNvSpPr txBox="1"/>
          <p:nvPr/>
        </p:nvSpPr>
        <p:spPr>
          <a:xfrm>
            <a:off x="887731" y="2379056"/>
            <a:ext cx="10401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Arsenal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1725931" y="2074256"/>
            <a:ext cx="6096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8600" y="2438400"/>
            <a:ext cx="990600" cy="52322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Shot Efficiency = Hi </a:t>
            </a:r>
          </a:p>
          <a:p>
            <a:r>
              <a:rPr lang="en-US" sz="700" dirty="0" smtClean="0"/>
              <a:t>Tackle Efficiency = Hi</a:t>
            </a:r>
          </a:p>
          <a:p>
            <a:r>
              <a:rPr lang="en-US" sz="700" dirty="0" smtClean="0"/>
              <a:t>Goals = 0</a:t>
            </a:r>
          </a:p>
          <a:p>
            <a:r>
              <a:rPr lang="en-US" sz="700" dirty="0" err="1" smtClean="0"/>
              <a:t>TimePlayed</a:t>
            </a:r>
            <a:r>
              <a:rPr lang="en-US" sz="700" dirty="0" smtClean="0"/>
              <a:t> = 90 </a:t>
            </a:r>
            <a:endParaRPr lang="en-US" sz="7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802131" y="1617056"/>
            <a:ext cx="1066800" cy="457200"/>
            <a:chOff x="1594340" y="2302856"/>
            <a:chExt cx="1641232" cy="668944"/>
          </a:xfrm>
        </p:grpSpPr>
        <p:sp>
          <p:nvSpPr>
            <p:cNvPr id="11" name="Oval 10"/>
            <p:cNvSpPr/>
            <p:nvPr/>
          </p:nvSpPr>
          <p:spPr>
            <a:xfrm>
              <a:off x="1676400" y="2302856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94340" y="2316024"/>
              <a:ext cx="1641232" cy="495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 smtClean="0"/>
                <a:t>Match1</a:t>
              </a:r>
            </a:p>
            <a:p>
              <a:pPr algn="ctr"/>
              <a:r>
                <a:rPr lang="en-US" sz="800" dirty="0" smtClean="0"/>
                <a:t>Result = </a:t>
              </a:r>
              <a:r>
                <a:rPr lang="en-US" sz="800" dirty="0" err="1" smtClean="0"/>
                <a:t>HomeWin</a:t>
              </a:r>
              <a:endParaRPr lang="en-US" sz="8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667000" y="2362200"/>
            <a:ext cx="735331" cy="287944"/>
            <a:chOff x="1676400" y="2150456"/>
            <a:chExt cx="1905000" cy="821344"/>
          </a:xfrm>
        </p:grpSpPr>
        <p:sp>
          <p:nvSpPr>
            <p:cNvPr id="23" name="Oval 22"/>
            <p:cNvSpPr/>
            <p:nvPr/>
          </p:nvSpPr>
          <p:spPr>
            <a:xfrm>
              <a:off x="1676400" y="2150456"/>
              <a:ext cx="1905000" cy="8213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828799" y="2236369"/>
              <a:ext cx="1600200" cy="570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 smtClean="0"/>
                <a:t>Aston Villa</a:t>
              </a:r>
            </a:p>
          </p:txBody>
        </p:sp>
      </p:grpSp>
      <p:cxnSp>
        <p:nvCxnSpPr>
          <p:cNvPr id="28" name="Straight Arrow Connector 27"/>
          <p:cNvCxnSpPr>
            <a:stCxn id="11" idx="4"/>
            <a:endCxn id="23" idx="0"/>
          </p:cNvCxnSpPr>
          <p:nvPr/>
        </p:nvCxnSpPr>
        <p:spPr>
          <a:xfrm>
            <a:off x="2326005" y="2074256"/>
            <a:ext cx="708661" cy="2879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39390" y="1762780"/>
            <a:ext cx="918210" cy="415498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Away Team</a:t>
            </a:r>
          </a:p>
          <a:p>
            <a:r>
              <a:rPr lang="en-US" sz="700" dirty="0" err="1" smtClean="0"/>
              <a:t>TeamFormation</a:t>
            </a:r>
            <a:r>
              <a:rPr lang="en-US" sz="700" dirty="0" smtClean="0"/>
              <a:t> = 2</a:t>
            </a:r>
          </a:p>
          <a:p>
            <a:r>
              <a:rPr lang="en-US" sz="700" dirty="0" smtClean="0"/>
              <a:t>Team Goals = 1</a:t>
            </a:r>
            <a:endParaRPr lang="en-US" sz="700" dirty="0"/>
          </a:p>
        </p:txBody>
      </p:sp>
      <p:grpSp>
        <p:nvGrpSpPr>
          <p:cNvPr id="4" name="Group 3"/>
          <p:cNvGrpSpPr/>
          <p:nvPr/>
        </p:nvGrpSpPr>
        <p:grpSpPr>
          <a:xfrm>
            <a:off x="3429000" y="3200400"/>
            <a:ext cx="838200" cy="457200"/>
            <a:chOff x="5036818" y="2743200"/>
            <a:chExt cx="1592581" cy="668944"/>
          </a:xfrm>
        </p:grpSpPr>
        <p:sp>
          <p:nvSpPr>
            <p:cNvPr id="40" name="TextBox 39"/>
            <p:cNvSpPr txBox="1"/>
            <p:nvPr/>
          </p:nvSpPr>
          <p:spPr>
            <a:xfrm>
              <a:off x="5036818" y="2819400"/>
              <a:ext cx="1592581" cy="45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 smtClean="0"/>
                <a:t>Gabriel</a:t>
              </a:r>
            </a:p>
            <a:p>
              <a:pPr algn="ctr"/>
              <a:r>
                <a:rPr lang="en-US" sz="700" dirty="0" smtClean="0"/>
                <a:t>Position = Striker </a:t>
              </a:r>
              <a:endParaRPr lang="en-US" sz="700" dirty="0"/>
            </a:p>
          </p:txBody>
        </p:sp>
        <p:sp>
          <p:nvSpPr>
            <p:cNvPr id="45" name="Oval 44"/>
            <p:cNvSpPr/>
            <p:nvPr/>
          </p:nvSpPr>
          <p:spPr>
            <a:xfrm>
              <a:off x="5181600" y="27432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cxnSp>
        <p:nvCxnSpPr>
          <p:cNvPr id="50" name="Straight Arrow Connector 49"/>
          <p:cNvCxnSpPr>
            <a:stCxn id="17" idx="4"/>
          </p:cNvCxnSpPr>
          <p:nvPr/>
        </p:nvCxnSpPr>
        <p:spPr>
          <a:xfrm flipH="1">
            <a:off x="659131" y="2683856"/>
            <a:ext cx="7620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23" idx="4"/>
          </p:cNvCxnSpPr>
          <p:nvPr/>
        </p:nvCxnSpPr>
        <p:spPr>
          <a:xfrm>
            <a:off x="3034666" y="2650144"/>
            <a:ext cx="901066" cy="5502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219200" y="1828800"/>
            <a:ext cx="891540" cy="630942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Home Team</a:t>
            </a:r>
            <a:br>
              <a:rPr lang="en-US" sz="700" dirty="0" smtClean="0"/>
            </a:br>
            <a:r>
              <a:rPr lang="en-US" sz="700" dirty="0" err="1" smtClean="0"/>
              <a:t>TeamFormation</a:t>
            </a:r>
            <a:r>
              <a:rPr lang="en-US" sz="700" dirty="0" smtClean="0"/>
              <a:t> = 1</a:t>
            </a:r>
          </a:p>
          <a:p>
            <a:r>
              <a:rPr lang="en-US" sz="700" dirty="0"/>
              <a:t>Team </a:t>
            </a:r>
            <a:r>
              <a:rPr lang="en-US" sz="700" dirty="0" smtClean="0"/>
              <a:t>Goals = 2</a:t>
            </a:r>
            <a:endParaRPr lang="en-US" sz="700" dirty="0"/>
          </a:p>
          <a:p>
            <a:endParaRPr lang="en-US" sz="700" dirty="0"/>
          </a:p>
        </p:txBody>
      </p:sp>
      <p:grpSp>
        <p:nvGrpSpPr>
          <p:cNvPr id="3" name="Group 2"/>
          <p:cNvGrpSpPr/>
          <p:nvPr/>
        </p:nvGrpSpPr>
        <p:grpSpPr>
          <a:xfrm>
            <a:off x="49531" y="2988653"/>
            <a:ext cx="891541" cy="440343"/>
            <a:chOff x="2362200" y="2743200"/>
            <a:chExt cx="1447801" cy="668944"/>
          </a:xfrm>
        </p:grpSpPr>
        <p:sp>
          <p:nvSpPr>
            <p:cNvPr id="39" name="Oval 38"/>
            <p:cNvSpPr/>
            <p:nvPr/>
          </p:nvSpPr>
          <p:spPr>
            <a:xfrm>
              <a:off x="2362200" y="27432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62202" y="2819403"/>
              <a:ext cx="1447799" cy="382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 smtClean="0"/>
                <a:t>Van </a:t>
              </a:r>
              <a:r>
                <a:rPr lang="en-US" sz="800" b="1" dirty="0" err="1" smtClean="0"/>
                <a:t>Persie</a:t>
              </a:r>
              <a:endParaRPr lang="en-US" sz="800" b="1" dirty="0" smtClean="0"/>
            </a:p>
            <a:p>
              <a:pPr algn="ctr"/>
              <a:r>
                <a:rPr lang="en-US" sz="800" dirty="0" smtClean="0"/>
                <a:t>Position = Striker </a:t>
              </a:r>
              <a:endParaRPr lang="en-US" sz="800" dirty="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276600" y="2340858"/>
            <a:ext cx="990600" cy="630942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Shot Efficiency = Hi </a:t>
            </a:r>
          </a:p>
          <a:p>
            <a:r>
              <a:rPr lang="en-US" sz="700" dirty="0" smtClean="0"/>
              <a:t>Tackle Efficiency = Med.</a:t>
            </a:r>
          </a:p>
          <a:p>
            <a:r>
              <a:rPr lang="en-US" sz="700" dirty="0" smtClean="0"/>
              <a:t>Goals = 1</a:t>
            </a:r>
          </a:p>
          <a:p>
            <a:r>
              <a:rPr lang="en-US" sz="700" dirty="0" err="1" smtClean="0"/>
              <a:t>TimePlayed</a:t>
            </a:r>
            <a:r>
              <a:rPr lang="en-US" sz="700" dirty="0" smtClean="0"/>
              <a:t> = 75 </a:t>
            </a:r>
            <a:endParaRPr lang="en-US" sz="7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762000" y="3200399"/>
            <a:ext cx="1066799" cy="440344"/>
            <a:chOff x="1914300" y="2743200"/>
            <a:chExt cx="2003376" cy="668944"/>
          </a:xfrm>
        </p:grpSpPr>
        <p:sp>
          <p:nvSpPr>
            <p:cNvPr id="30" name="Oval 29"/>
            <p:cNvSpPr/>
            <p:nvPr/>
          </p:nvSpPr>
          <p:spPr>
            <a:xfrm>
              <a:off x="2133600" y="27432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914300" y="2780946"/>
              <a:ext cx="2003376" cy="467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 err="1" smtClean="0"/>
                <a:t>Arshavin</a:t>
              </a:r>
              <a:endParaRPr lang="en-US" sz="700" b="1" dirty="0" smtClean="0"/>
            </a:p>
            <a:p>
              <a:pPr algn="ctr"/>
              <a:r>
                <a:rPr lang="en-US" sz="700" dirty="0" smtClean="0"/>
                <a:t>Position = </a:t>
              </a:r>
              <a:r>
                <a:rPr lang="en-US" sz="700" dirty="0" err="1" smtClean="0"/>
                <a:t>MidFielder</a:t>
              </a:r>
              <a:r>
                <a:rPr lang="en-US" sz="700" dirty="0" smtClean="0"/>
                <a:t> </a:t>
              </a:r>
              <a:endParaRPr lang="en-US" sz="700" dirty="0"/>
            </a:p>
          </p:txBody>
        </p:sp>
      </p:grpSp>
      <p:cxnSp>
        <p:nvCxnSpPr>
          <p:cNvPr id="34" name="Straight Arrow Connector 33"/>
          <p:cNvCxnSpPr>
            <a:stCxn id="17" idx="4"/>
          </p:cNvCxnSpPr>
          <p:nvPr/>
        </p:nvCxnSpPr>
        <p:spPr>
          <a:xfrm flipH="1">
            <a:off x="1268731" y="2683856"/>
            <a:ext cx="152400" cy="533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71600" y="2683856"/>
            <a:ext cx="1066800" cy="52322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Shot Efficiency = Low</a:t>
            </a:r>
          </a:p>
          <a:p>
            <a:r>
              <a:rPr lang="en-US" sz="700" dirty="0" smtClean="0"/>
              <a:t>Tackle Efficiency = Med.</a:t>
            </a:r>
          </a:p>
          <a:p>
            <a:r>
              <a:rPr lang="en-US" sz="700" dirty="0" smtClean="0"/>
              <a:t>Goals = 0</a:t>
            </a:r>
          </a:p>
          <a:p>
            <a:r>
              <a:rPr lang="en-US" sz="700" dirty="0" err="1" smtClean="0"/>
              <a:t>TimePlayed</a:t>
            </a:r>
            <a:r>
              <a:rPr lang="en-US" sz="700" dirty="0" smtClean="0"/>
              <a:t> = 45</a:t>
            </a:r>
            <a:endParaRPr lang="en-US" sz="700" dirty="0"/>
          </a:p>
        </p:txBody>
      </p:sp>
      <p:grpSp>
        <p:nvGrpSpPr>
          <p:cNvPr id="42" name="Group 41"/>
          <p:cNvGrpSpPr/>
          <p:nvPr/>
        </p:nvGrpSpPr>
        <p:grpSpPr>
          <a:xfrm>
            <a:off x="2514600" y="3352800"/>
            <a:ext cx="963931" cy="440344"/>
            <a:chOff x="2057400" y="2743200"/>
            <a:chExt cx="1524000" cy="668944"/>
          </a:xfrm>
        </p:grpSpPr>
        <p:sp>
          <p:nvSpPr>
            <p:cNvPr id="43" name="Oval 42"/>
            <p:cNvSpPr/>
            <p:nvPr/>
          </p:nvSpPr>
          <p:spPr>
            <a:xfrm>
              <a:off x="2133600" y="27432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057400" y="2819400"/>
              <a:ext cx="1524000" cy="347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 err="1" smtClean="0"/>
                <a:t>Albrigton</a:t>
              </a:r>
              <a:endParaRPr lang="en-US" sz="700" b="1" dirty="0" smtClean="0"/>
            </a:p>
            <a:p>
              <a:pPr algn="ctr"/>
              <a:r>
                <a:rPr lang="en-US" sz="700" dirty="0" smtClean="0"/>
                <a:t>Position = </a:t>
              </a:r>
              <a:r>
                <a:rPr lang="en-US" sz="700" dirty="0" err="1" smtClean="0"/>
                <a:t>MidFielder</a:t>
              </a:r>
              <a:r>
                <a:rPr lang="en-US" sz="700" dirty="0" smtClean="0"/>
                <a:t> </a:t>
              </a:r>
              <a:endParaRPr lang="en-US" sz="700" dirty="0"/>
            </a:p>
          </p:txBody>
        </p:sp>
      </p:grpSp>
      <p:cxnSp>
        <p:nvCxnSpPr>
          <p:cNvPr id="46" name="Straight Arrow Connector 45"/>
          <p:cNvCxnSpPr>
            <a:stCxn id="23" idx="4"/>
            <a:endCxn id="44" idx="0"/>
          </p:cNvCxnSpPr>
          <p:nvPr/>
        </p:nvCxnSpPr>
        <p:spPr>
          <a:xfrm flipH="1">
            <a:off x="2996566" y="2650144"/>
            <a:ext cx="38100" cy="7528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209800" y="2667000"/>
            <a:ext cx="1066800" cy="52322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Shot Efficiency = Med.</a:t>
            </a:r>
          </a:p>
          <a:p>
            <a:r>
              <a:rPr lang="en-US" sz="700" dirty="0" smtClean="0"/>
              <a:t>Tackle Efficiency = Low</a:t>
            </a:r>
          </a:p>
          <a:p>
            <a:r>
              <a:rPr lang="en-US" sz="700" dirty="0" smtClean="0"/>
              <a:t>Goals = 0</a:t>
            </a:r>
          </a:p>
          <a:p>
            <a:r>
              <a:rPr lang="en-US" sz="700" dirty="0" err="1" smtClean="0"/>
              <a:t>TimePlayed</a:t>
            </a:r>
            <a:r>
              <a:rPr lang="en-US" sz="700" dirty="0" smtClean="0"/>
              <a:t> = 60</a:t>
            </a:r>
            <a:endParaRPr lang="en-US" sz="700" dirty="0"/>
          </a:p>
        </p:txBody>
      </p:sp>
      <p:grpSp>
        <p:nvGrpSpPr>
          <p:cNvPr id="73" name="Group 72"/>
          <p:cNvGrpSpPr/>
          <p:nvPr/>
        </p:nvGrpSpPr>
        <p:grpSpPr>
          <a:xfrm>
            <a:off x="3886200" y="609600"/>
            <a:ext cx="838200" cy="304800"/>
            <a:chOff x="1594340" y="2302856"/>
            <a:chExt cx="1641232" cy="668944"/>
          </a:xfrm>
        </p:grpSpPr>
        <p:sp>
          <p:nvSpPr>
            <p:cNvPr id="74" name="Oval 73"/>
            <p:cNvSpPr/>
            <p:nvPr/>
          </p:nvSpPr>
          <p:spPr>
            <a:xfrm>
              <a:off x="1676400" y="2302856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594340" y="2414347"/>
              <a:ext cx="1641232" cy="472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 smtClean="0"/>
                <a:t>Season</a:t>
              </a:r>
              <a:endParaRPr lang="en-US" sz="800" dirty="0"/>
            </a:p>
          </p:txBody>
        </p:sp>
      </p:grpSp>
      <p:sp>
        <p:nvSpPr>
          <p:cNvPr id="113" name="Oval 112"/>
          <p:cNvSpPr/>
          <p:nvPr/>
        </p:nvSpPr>
        <p:spPr>
          <a:xfrm>
            <a:off x="5154931" y="2302856"/>
            <a:ext cx="7620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4" name="TextBox 113"/>
          <p:cNvSpPr txBox="1"/>
          <p:nvPr/>
        </p:nvSpPr>
        <p:spPr>
          <a:xfrm>
            <a:off x="5002531" y="2302856"/>
            <a:ext cx="10401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Arsenal</a:t>
            </a:r>
          </a:p>
        </p:txBody>
      </p:sp>
      <p:cxnSp>
        <p:nvCxnSpPr>
          <p:cNvPr id="115" name="Straight Arrow Connector 114"/>
          <p:cNvCxnSpPr/>
          <p:nvPr/>
        </p:nvCxnSpPr>
        <p:spPr>
          <a:xfrm flipH="1">
            <a:off x="5840731" y="1998056"/>
            <a:ext cx="6096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343400" y="2209800"/>
            <a:ext cx="990600" cy="630942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Shot Efficiency = Hi </a:t>
            </a:r>
          </a:p>
          <a:p>
            <a:r>
              <a:rPr lang="en-US" sz="700" dirty="0" smtClean="0"/>
              <a:t>Tackle Efficiency = Med.</a:t>
            </a:r>
          </a:p>
          <a:p>
            <a:r>
              <a:rPr lang="en-US" sz="700" dirty="0" smtClean="0"/>
              <a:t>Goals = 2</a:t>
            </a:r>
          </a:p>
          <a:p>
            <a:r>
              <a:rPr lang="en-US" sz="700" dirty="0" err="1" smtClean="0"/>
              <a:t>TimePlayed</a:t>
            </a:r>
            <a:r>
              <a:rPr lang="en-US" sz="700" dirty="0" smtClean="0"/>
              <a:t> = 90 </a:t>
            </a:r>
            <a:endParaRPr lang="en-US" sz="700" dirty="0"/>
          </a:p>
        </p:txBody>
      </p:sp>
      <p:grpSp>
        <p:nvGrpSpPr>
          <p:cNvPr id="117" name="Group 116"/>
          <p:cNvGrpSpPr/>
          <p:nvPr/>
        </p:nvGrpSpPr>
        <p:grpSpPr>
          <a:xfrm>
            <a:off x="5916931" y="1540856"/>
            <a:ext cx="1066800" cy="457200"/>
            <a:chOff x="1594340" y="2302856"/>
            <a:chExt cx="1641232" cy="668944"/>
          </a:xfrm>
        </p:grpSpPr>
        <p:sp>
          <p:nvSpPr>
            <p:cNvPr id="118" name="Oval 117"/>
            <p:cNvSpPr/>
            <p:nvPr/>
          </p:nvSpPr>
          <p:spPr>
            <a:xfrm>
              <a:off x="1676400" y="2302856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594340" y="2316024"/>
              <a:ext cx="1641232" cy="495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 smtClean="0"/>
                <a:t>Match10</a:t>
              </a:r>
            </a:p>
            <a:p>
              <a:pPr algn="ctr"/>
              <a:r>
                <a:rPr lang="en-US" sz="800" dirty="0" smtClean="0"/>
                <a:t>Result = </a:t>
              </a:r>
              <a:r>
                <a:rPr lang="en-US" sz="800" dirty="0" err="1" smtClean="0"/>
                <a:t>AwayWin</a:t>
              </a:r>
              <a:endParaRPr lang="en-US" sz="800" dirty="0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6781800" y="2286000"/>
            <a:ext cx="735331" cy="287944"/>
            <a:chOff x="1676400" y="2150456"/>
            <a:chExt cx="1905000" cy="821344"/>
          </a:xfrm>
        </p:grpSpPr>
        <p:sp>
          <p:nvSpPr>
            <p:cNvPr id="121" name="Oval 120"/>
            <p:cNvSpPr/>
            <p:nvPr/>
          </p:nvSpPr>
          <p:spPr>
            <a:xfrm>
              <a:off x="1676400" y="2150456"/>
              <a:ext cx="1905000" cy="8213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828799" y="2236372"/>
              <a:ext cx="1600200" cy="570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 smtClean="0"/>
                <a:t>Liverpool</a:t>
              </a:r>
            </a:p>
          </p:txBody>
        </p:sp>
      </p:grpSp>
      <p:cxnSp>
        <p:nvCxnSpPr>
          <p:cNvPr id="123" name="Straight Arrow Connector 122"/>
          <p:cNvCxnSpPr>
            <a:stCxn id="118" idx="4"/>
            <a:endCxn id="121" idx="0"/>
          </p:cNvCxnSpPr>
          <p:nvPr/>
        </p:nvCxnSpPr>
        <p:spPr>
          <a:xfrm>
            <a:off x="6440805" y="1998056"/>
            <a:ext cx="708661" cy="2879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6854190" y="1686580"/>
            <a:ext cx="842010" cy="52322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Away Team</a:t>
            </a:r>
          </a:p>
          <a:p>
            <a:r>
              <a:rPr lang="en-US" sz="700" dirty="0" err="1" smtClean="0"/>
              <a:t>TeamFormation</a:t>
            </a:r>
            <a:r>
              <a:rPr lang="en-US" sz="700" dirty="0" smtClean="0"/>
              <a:t> = 4</a:t>
            </a:r>
          </a:p>
          <a:p>
            <a:r>
              <a:rPr lang="en-US" sz="700" dirty="0" smtClean="0"/>
              <a:t>Team Goals = 1</a:t>
            </a:r>
            <a:endParaRPr lang="en-US" sz="700" dirty="0"/>
          </a:p>
        </p:txBody>
      </p:sp>
      <p:grpSp>
        <p:nvGrpSpPr>
          <p:cNvPr id="125" name="Group 124"/>
          <p:cNvGrpSpPr/>
          <p:nvPr/>
        </p:nvGrpSpPr>
        <p:grpSpPr>
          <a:xfrm>
            <a:off x="7620001" y="3124201"/>
            <a:ext cx="761999" cy="467578"/>
            <a:chOff x="5181600" y="2743200"/>
            <a:chExt cx="1447799" cy="684128"/>
          </a:xfrm>
        </p:grpSpPr>
        <p:sp>
          <p:nvSpPr>
            <p:cNvPr id="126" name="TextBox 125"/>
            <p:cNvSpPr txBox="1"/>
            <p:nvPr/>
          </p:nvSpPr>
          <p:spPr>
            <a:xfrm>
              <a:off x="5333999" y="2819400"/>
              <a:ext cx="1219200" cy="607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 smtClean="0"/>
                <a:t>Carroll</a:t>
              </a:r>
            </a:p>
            <a:p>
              <a:pPr algn="ctr"/>
              <a:r>
                <a:rPr lang="en-US" sz="700" dirty="0" smtClean="0"/>
                <a:t>Position = Striker </a:t>
              </a:r>
              <a:endParaRPr lang="en-US" sz="700" dirty="0"/>
            </a:p>
          </p:txBody>
        </p:sp>
        <p:sp>
          <p:nvSpPr>
            <p:cNvPr id="127" name="Oval 126"/>
            <p:cNvSpPr/>
            <p:nvPr/>
          </p:nvSpPr>
          <p:spPr>
            <a:xfrm>
              <a:off x="5181600" y="27432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cxnSp>
        <p:nvCxnSpPr>
          <p:cNvPr id="128" name="Straight Arrow Connector 127"/>
          <p:cNvCxnSpPr>
            <a:stCxn id="113" idx="4"/>
          </p:cNvCxnSpPr>
          <p:nvPr/>
        </p:nvCxnSpPr>
        <p:spPr>
          <a:xfrm flipH="1">
            <a:off x="4773931" y="2607656"/>
            <a:ext cx="7620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121" idx="4"/>
          </p:cNvCxnSpPr>
          <p:nvPr/>
        </p:nvCxnSpPr>
        <p:spPr>
          <a:xfrm>
            <a:off x="7149466" y="2573944"/>
            <a:ext cx="901066" cy="5502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280660" y="1752600"/>
            <a:ext cx="891540" cy="630942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Home Team</a:t>
            </a:r>
            <a:br>
              <a:rPr lang="en-US" sz="700" dirty="0" smtClean="0"/>
            </a:br>
            <a:r>
              <a:rPr lang="en-US" sz="700" dirty="0" err="1" smtClean="0"/>
              <a:t>TeamFormation</a:t>
            </a:r>
            <a:r>
              <a:rPr lang="en-US" sz="700" dirty="0" smtClean="0"/>
              <a:t> = 1</a:t>
            </a:r>
          </a:p>
          <a:p>
            <a:r>
              <a:rPr lang="en-US" sz="700" dirty="0"/>
              <a:t>Team </a:t>
            </a:r>
            <a:r>
              <a:rPr lang="en-US" sz="700" dirty="0" smtClean="0"/>
              <a:t>Goals = 3</a:t>
            </a:r>
            <a:endParaRPr lang="en-US" sz="700" dirty="0"/>
          </a:p>
          <a:p>
            <a:endParaRPr lang="en-US" sz="700" dirty="0"/>
          </a:p>
        </p:txBody>
      </p:sp>
      <p:grpSp>
        <p:nvGrpSpPr>
          <p:cNvPr id="131" name="Group 130"/>
          <p:cNvGrpSpPr/>
          <p:nvPr/>
        </p:nvGrpSpPr>
        <p:grpSpPr>
          <a:xfrm>
            <a:off x="4164331" y="2912453"/>
            <a:ext cx="891541" cy="440343"/>
            <a:chOff x="2362200" y="2743200"/>
            <a:chExt cx="1447801" cy="668944"/>
          </a:xfrm>
        </p:grpSpPr>
        <p:sp>
          <p:nvSpPr>
            <p:cNvPr id="132" name="Oval 131"/>
            <p:cNvSpPr/>
            <p:nvPr/>
          </p:nvSpPr>
          <p:spPr>
            <a:xfrm>
              <a:off x="2362200" y="27432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362202" y="2819403"/>
              <a:ext cx="1447799" cy="382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 smtClean="0"/>
                <a:t>Van </a:t>
              </a:r>
              <a:r>
                <a:rPr lang="en-US" sz="800" b="1" dirty="0" err="1" smtClean="0"/>
                <a:t>Persie</a:t>
              </a:r>
              <a:endParaRPr lang="en-US" sz="800" b="1" dirty="0" smtClean="0"/>
            </a:p>
            <a:p>
              <a:pPr algn="ctr"/>
              <a:r>
                <a:rPr lang="en-US" sz="800" dirty="0" smtClean="0"/>
                <a:t>Position = Striker </a:t>
              </a:r>
              <a:endParaRPr lang="en-US" sz="800" dirty="0"/>
            </a:p>
          </p:txBody>
        </p:sp>
      </p:grpSp>
      <p:sp>
        <p:nvSpPr>
          <p:cNvPr id="134" name="TextBox 133"/>
          <p:cNvSpPr txBox="1"/>
          <p:nvPr/>
        </p:nvSpPr>
        <p:spPr>
          <a:xfrm>
            <a:off x="7391400" y="2264658"/>
            <a:ext cx="990600" cy="52322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Shot Efficiency = Hi </a:t>
            </a:r>
          </a:p>
          <a:p>
            <a:r>
              <a:rPr lang="en-US" sz="700" dirty="0" smtClean="0"/>
              <a:t>Tackle Efficiency = Hi</a:t>
            </a:r>
          </a:p>
          <a:p>
            <a:r>
              <a:rPr lang="en-US" sz="700" dirty="0" smtClean="0"/>
              <a:t>Goals = 1</a:t>
            </a:r>
          </a:p>
          <a:p>
            <a:r>
              <a:rPr lang="en-US" sz="700" dirty="0" err="1" smtClean="0"/>
              <a:t>TimePlayed</a:t>
            </a:r>
            <a:r>
              <a:rPr lang="en-US" sz="700" dirty="0" smtClean="0"/>
              <a:t> = 90 </a:t>
            </a:r>
            <a:endParaRPr lang="en-US" sz="700" dirty="0"/>
          </a:p>
        </p:txBody>
      </p:sp>
      <p:grpSp>
        <p:nvGrpSpPr>
          <p:cNvPr id="135" name="Group 134"/>
          <p:cNvGrpSpPr/>
          <p:nvPr/>
        </p:nvGrpSpPr>
        <p:grpSpPr>
          <a:xfrm>
            <a:off x="4953000" y="3124200"/>
            <a:ext cx="811531" cy="440345"/>
            <a:chOff x="2057400" y="2743200"/>
            <a:chExt cx="1524000" cy="668945"/>
          </a:xfrm>
        </p:grpSpPr>
        <p:sp>
          <p:nvSpPr>
            <p:cNvPr id="136" name="Oval 135"/>
            <p:cNvSpPr/>
            <p:nvPr/>
          </p:nvSpPr>
          <p:spPr>
            <a:xfrm>
              <a:off x="2133600" y="27432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2057400" y="2780946"/>
              <a:ext cx="1524000" cy="631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 err="1" smtClean="0"/>
                <a:t>Arshavin</a:t>
              </a:r>
              <a:endParaRPr lang="en-US" sz="700" b="1" dirty="0" smtClean="0"/>
            </a:p>
            <a:p>
              <a:pPr algn="ctr"/>
              <a:r>
                <a:rPr lang="en-US" sz="700" dirty="0" smtClean="0"/>
                <a:t>Position = </a:t>
              </a:r>
              <a:r>
                <a:rPr lang="en-US" sz="700" dirty="0" err="1" smtClean="0"/>
                <a:t>MidFielder</a:t>
              </a:r>
              <a:r>
                <a:rPr lang="en-US" sz="700" dirty="0" smtClean="0"/>
                <a:t> </a:t>
              </a:r>
              <a:endParaRPr lang="en-US" sz="700" dirty="0"/>
            </a:p>
          </p:txBody>
        </p:sp>
      </p:grpSp>
      <p:cxnSp>
        <p:nvCxnSpPr>
          <p:cNvPr id="138" name="Straight Arrow Connector 137"/>
          <p:cNvCxnSpPr>
            <a:stCxn id="113" idx="4"/>
          </p:cNvCxnSpPr>
          <p:nvPr/>
        </p:nvCxnSpPr>
        <p:spPr>
          <a:xfrm flipH="1">
            <a:off x="5383531" y="2607656"/>
            <a:ext cx="152400" cy="533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5486400" y="2607656"/>
            <a:ext cx="990600" cy="52322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Shot Efficiency = Hi</a:t>
            </a:r>
          </a:p>
          <a:p>
            <a:r>
              <a:rPr lang="en-US" sz="700" dirty="0" smtClean="0"/>
              <a:t>Tackle Efficiency =Hi Goals = 0</a:t>
            </a:r>
          </a:p>
          <a:p>
            <a:r>
              <a:rPr lang="en-US" sz="700" dirty="0" err="1" smtClean="0"/>
              <a:t>TimePlayed</a:t>
            </a:r>
            <a:r>
              <a:rPr lang="en-US" sz="700" dirty="0" smtClean="0"/>
              <a:t> = 90</a:t>
            </a:r>
            <a:endParaRPr lang="en-US" sz="700" dirty="0"/>
          </a:p>
        </p:txBody>
      </p:sp>
      <p:grpSp>
        <p:nvGrpSpPr>
          <p:cNvPr id="140" name="Group 139"/>
          <p:cNvGrpSpPr/>
          <p:nvPr/>
        </p:nvGrpSpPr>
        <p:grpSpPr>
          <a:xfrm>
            <a:off x="6629400" y="3276600"/>
            <a:ext cx="963931" cy="440344"/>
            <a:chOff x="2057400" y="2743200"/>
            <a:chExt cx="1524000" cy="668944"/>
          </a:xfrm>
        </p:grpSpPr>
        <p:sp>
          <p:nvSpPr>
            <p:cNvPr id="141" name="Oval 140"/>
            <p:cNvSpPr/>
            <p:nvPr/>
          </p:nvSpPr>
          <p:spPr>
            <a:xfrm>
              <a:off x="2133600" y="27432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2057400" y="2819400"/>
              <a:ext cx="1524000" cy="467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b="1" dirty="0" smtClean="0"/>
                <a:t>Downing</a:t>
              </a:r>
            </a:p>
            <a:p>
              <a:pPr algn="ctr"/>
              <a:r>
                <a:rPr lang="en-US" sz="700" dirty="0" smtClean="0"/>
                <a:t>Position = </a:t>
              </a:r>
              <a:r>
                <a:rPr lang="en-US" sz="700" dirty="0" err="1" smtClean="0"/>
                <a:t>MidFielder</a:t>
              </a:r>
              <a:r>
                <a:rPr lang="en-US" sz="700" dirty="0" smtClean="0"/>
                <a:t> </a:t>
              </a:r>
              <a:endParaRPr lang="en-US" sz="700" dirty="0"/>
            </a:p>
          </p:txBody>
        </p:sp>
      </p:grpSp>
      <p:cxnSp>
        <p:nvCxnSpPr>
          <p:cNvPr id="143" name="Straight Arrow Connector 142"/>
          <p:cNvCxnSpPr>
            <a:stCxn id="121" idx="4"/>
            <a:endCxn id="142" idx="0"/>
          </p:cNvCxnSpPr>
          <p:nvPr/>
        </p:nvCxnSpPr>
        <p:spPr>
          <a:xfrm flipH="1">
            <a:off x="7111366" y="2573944"/>
            <a:ext cx="38100" cy="7528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324600" y="2590800"/>
            <a:ext cx="1066800" cy="52322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700" dirty="0" smtClean="0"/>
              <a:t>Shot Efficiency = Med.</a:t>
            </a:r>
          </a:p>
          <a:p>
            <a:r>
              <a:rPr lang="en-US" sz="700" dirty="0" smtClean="0"/>
              <a:t>Tackle Efficiency = Low</a:t>
            </a:r>
          </a:p>
          <a:p>
            <a:r>
              <a:rPr lang="en-US" sz="700" dirty="0" smtClean="0"/>
              <a:t>Goals = 0</a:t>
            </a:r>
          </a:p>
          <a:p>
            <a:r>
              <a:rPr lang="en-US" sz="700" dirty="0" err="1" smtClean="0"/>
              <a:t>TimePlayed</a:t>
            </a:r>
            <a:r>
              <a:rPr lang="en-US" sz="700" dirty="0" smtClean="0"/>
              <a:t> = 90</a:t>
            </a:r>
            <a:endParaRPr lang="en-US" sz="700" dirty="0"/>
          </a:p>
        </p:txBody>
      </p:sp>
      <p:cxnSp>
        <p:nvCxnSpPr>
          <p:cNvPr id="148" name="Straight Arrow Connector 147"/>
          <p:cNvCxnSpPr>
            <a:stCxn id="74" idx="4"/>
            <a:endCxn id="12" idx="0"/>
          </p:cNvCxnSpPr>
          <p:nvPr/>
        </p:nvCxnSpPr>
        <p:spPr>
          <a:xfrm flipH="1">
            <a:off x="2335531" y="914400"/>
            <a:ext cx="1962284" cy="7116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>
            <a:stCxn id="74" idx="4"/>
            <a:endCxn id="119" idx="0"/>
          </p:cNvCxnSpPr>
          <p:nvPr/>
        </p:nvCxnSpPr>
        <p:spPr>
          <a:xfrm>
            <a:off x="4297815" y="914400"/>
            <a:ext cx="2152516" cy="6354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4114800" y="1295400"/>
            <a:ext cx="60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/>
              <a:t>….</a:t>
            </a:r>
            <a:endParaRPr lang="en-US" sz="2500" b="1" dirty="0"/>
          </a:p>
        </p:txBody>
      </p:sp>
      <p:sp>
        <p:nvSpPr>
          <p:cNvPr id="72" name="TextBox 71"/>
          <p:cNvSpPr txBox="1"/>
          <p:nvPr/>
        </p:nvSpPr>
        <p:spPr>
          <a:xfrm>
            <a:off x="3048000" y="2895600"/>
            <a:ext cx="60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/>
              <a:t>….</a:t>
            </a:r>
            <a:endParaRPr lang="en-US" sz="2500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838200" y="2647146"/>
            <a:ext cx="60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/>
              <a:t>….</a:t>
            </a:r>
            <a:endParaRPr lang="en-US" sz="25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4953000" y="2590800"/>
            <a:ext cx="60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/>
              <a:t>….</a:t>
            </a:r>
            <a:endParaRPr lang="en-US" sz="2500" b="1" dirty="0"/>
          </a:p>
        </p:txBody>
      </p:sp>
      <p:sp>
        <p:nvSpPr>
          <p:cNvPr id="78" name="TextBox 77"/>
          <p:cNvSpPr txBox="1"/>
          <p:nvPr/>
        </p:nvSpPr>
        <p:spPr>
          <a:xfrm>
            <a:off x="7162800" y="2667000"/>
            <a:ext cx="60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/>
              <a:t>….</a:t>
            </a:r>
            <a:endParaRPr lang="en-US" sz="25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7696200" y="1371600"/>
            <a:ext cx="60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smtClean="0"/>
              <a:t>….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278725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448</Words>
  <Application>Microsoft Macintosh PowerPoint</Application>
  <PresentationFormat>On-screen Show (4:3)</PresentationFormat>
  <Paragraphs>125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Simon Fraser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Riahi</dc:creator>
  <cp:lastModifiedBy>Oliver Schulte</cp:lastModifiedBy>
  <cp:revision>32</cp:revision>
  <dcterms:created xsi:type="dcterms:W3CDTF">2014-10-02T22:13:31Z</dcterms:created>
  <dcterms:modified xsi:type="dcterms:W3CDTF">2014-10-09T22:54:19Z</dcterms:modified>
</cp:coreProperties>
</file>