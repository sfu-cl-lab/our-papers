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752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48502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93237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28532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002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8894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346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209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899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5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701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499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2E7A-7761-47C3-850A-BE233BAFE441}" type="datetimeFigureOut">
              <a:rPr lang="en-US" smtClean="0"/>
              <a:pPr/>
              <a:t>12/16/2014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4EE42-7652-49EC-B139-13864DD545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2615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1718805"/>
            <a:ext cx="2707258" cy="1000566"/>
            <a:chOff x="407598" y="1767045"/>
            <a:chExt cx="3262853" cy="1033614"/>
          </a:xfrm>
        </p:grpSpPr>
        <p:grpSp>
          <p:nvGrpSpPr>
            <p:cNvPr id="9" name="Group 8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4" name="Oval 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cxnSp>
          <p:nvCxnSpPr>
            <p:cNvPr id="11" name="Straight Arrow Connector 10"/>
            <p:cNvCxnSpPr>
              <a:stCxn id="4" idx="6"/>
            </p:cNvCxnSpPr>
            <p:nvPr/>
          </p:nvCxnSpPr>
          <p:spPr>
            <a:xfrm>
              <a:off x="2049236" y="2579194"/>
              <a:ext cx="693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13" name="Rectangular Callout 12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2396216" y="1772229"/>
              <a:ext cx="1274235" cy="406328"/>
              <a:chOff x="3639219" y="1589493"/>
              <a:chExt cx="1328643" cy="457200"/>
            </a:xfrm>
          </p:grpSpPr>
          <p:sp>
            <p:nvSpPr>
              <p:cNvPr id="12" name="Rectangular Callout 11"/>
              <p:cNvSpPr/>
              <p:nvPr/>
            </p:nvSpPr>
            <p:spPr>
              <a:xfrm>
                <a:off x="3657600" y="1589493"/>
                <a:ext cx="129540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639219" y="1643202"/>
                <a:ext cx="1328643" cy="393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P(F2=0|F1=0)= % 90</a:t>
                </a:r>
              </a:p>
              <a:p>
                <a:r>
                  <a:rPr lang="en-US" sz="800" dirty="0" smtClean="0"/>
                  <a:t>P(F2=1|F1=1)= % 90</a:t>
                </a:r>
                <a:endParaRPr lang="en-US" sz="800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07598" y="2187651"/>
              <a:ext cx="1100472" cy="2861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Object 1</a:t>
              </a:r>
              <a:endParaRPr lang="en-US" sz="1200" b="1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21315" y="2941893"/>
            <a:ext cx="2550674" cy="851246"/>
            <a:chOff x="783369" y="3312284"/>
            <a:chExt cx="3081151" cy="997930"/>
          </a:xfrm>
        </p:grpSpPr>
        <p:grpSp>
          <p:nvGrpSpPr>
            <p:cNvPr id="22" name="Group 21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30" name="Rectangular Callout 29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796731" y="1723549"/>
                <a:ext cx="1149737" cy="2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2769567" y="3312284"/>
              <a:ext cx="1094953" cy="406328"/>
              <a:chOff x="3599821" y="1589493"/>
              <a:chExt cx="1141705" cy="457200"/>
            </a:xfrm>
          </p:grpSpPr>
          <p:sp>
            <p:nvSpPr>
              <p:cNvPr id="28" name="Rectangular Callout 27"/>
              <p:cNvSpPr/>
              <p:nvPr/>
            </p:nvSpPr>
            <p:spPr>
              <a:xfrm>
                <a:off x="3657600" y="1589493"/>
                <a:ext cx="92648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599821" y="1615680"/>
                <a:ext cx="1141705" cy="297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smtClean="0"/>
                  <a:t>P(F2=1)= % 50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783369" y="3741442"/>
              <a:ext cx="800506" cy="324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630069" y="1726716"/>
            <a:ext cx="1892769" cy="1000566"/>
            <a:chOff x="1181506" y="1767045"/>
            <a:chExt cx="2281211" cy="1033614"/>
          </a:xfrm>
        </p:grpSpPr>
        <p:grpSp>
          <p:nvGrpSpPr>
            <p:cNvPr id="38" name="Group 37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46" name="Rectangular Callout 45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3751590" y="2961097"/>
            <a:ext cx="1934580" cy="789404"/>
            <a:chOff x="1328605" y="3384783"/>
            <a:chExt cx="2336925" cy="925431"/>
          </a:xfrm>
        </p:grpSpPr>
        <p:grpSp>
          <p:nvGrpSpPr>
            <p:cNvPr id="53" name="Group 52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60" name="Rectangular Callout 59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796731" y="1723549"/>
                <a:ext cx="1149737" cy="289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50</a:t>
                </a:r>
                <a:endParaRPr lang="en-US" sz="900" dirty="0"/>
              </a:p>
            </p:txBody>
          </p:sp>
        </p:grpSp>
      </p:grpSp>
      <p:grpSp>
        <p:nvGrpSpPr>
          <p:cNvPr id="66" name="Group 65"/>
          <p:cNvGrpSpPr/>
          <p:nvPr/>
        </p:nvGrpSpPr>
        <p:grpSpPr>
          <a:xfrm>
            <a:off x="6441568" y="1708164"/>
            <a:ext cx="2065130" cy="1000566"/>
            <a:chOff x="1181506" y="1767045"/>
            <a:chExt cx="2488945" cy="1033614"/>
          </a:xfrm>
        </p:grpSpPr>
        <p:grpSp>
          <p:nvGrpSpPr>
            <p:cNvPr id="67" name="Group 66"/>
            <p:cNvGrpSpPr/>
            <p:nvPr/>
          </p:nvGrpSpPr>
          <p:grpSpPr>
            <a:xfrm>
              <a:off x="1295400" y="2364058"/>
              <a:ext cx="753836" cy="430271"/>
              <a:chOff x="1295400" y="2286000"/>
              <a:chExt cx="1066800" cy="533400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68" name="Group 67"/>
            <p:cNvGrpSpPr/>
            <p:nvPr/>
          </p:nvGrpSpPr>
          <p:grpSpPr>
            <a:xfrm>
              <a:off x="2736596" y="2370387"/>
              <a:ext cx="726121" cy="430272"/>
              <a:chOff x="3429000" y="2260930"/>
              <a:chExt cx="1066800" cy="533400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cxnSp>
          <p:nvCxnSpPr>
            <p:cNvPr id="69" name="Straight Arrow Connector 68"/>
            <p:cNvCxnSpPr>
              <a:stCxn id="79" idx="6"/>
            </p:cNvCxnSpPr>
            <p:nvPr/>
          </p:nvCxnSpPr>
          <p:spPr>
            <a:xfrm>
              <a:off x="2049236" y="2579194"/>
              <a:ext cx="693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Group 69"/>
            <p:cNvGrpSpPr/>
            <p:nvPr/>
          </p:nvGrpSpPr>
          <p:grpSpPr>
            <a:xfrm>
              <a:off x="1181506" y="1767045"/>
              <a:ext cx="1067613" cy="372950"/>
              <a:chOff x="796731" y="1687288"/>
              <a:chExt cx="1149737" cy="409211"/>
            </a:xfrm>
          </p:grpSpPr>
          <p:sp>
            <p:nvSpPr>
              <p:cNvPr id="75" name="Rectangular Callout 74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796731" y="1723549"/>
                <a:ext cx="1149737" cy="261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</a:t>
                </a:r>
                <a:r>
                  <a:rPr lang="en-US" sz="900" dirty="0"/>
                  <a:t>9</a:t>
                </a:r>
                <a:r>
                  <a:rPr lang="en-US" sz="900" dirty="0" smtClean="0"/>
                  <a:t>0</a:t>
                </a:r>
                <a:endParaRPr lang="en-US" sz="900" dirty="0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2396216" y="1772229"/>
              <a:ext cx="1274235" cy="406328"/>
              <a:chOff x="3639219" y="1589493"/>
              <a:chExt cx="1328643" cy="457200"/>
            </a:xfrm>
          </p:grpSpPr>
          <p:sp>
            <p:nvSpPr>
              <p:cNvPr id="73" name="Rectangular Callout 72"/>
              <p:cNvSpPr/>
              <p:nvPr/>
            </p:nvSpPr>
            <p:spPr>
              <a:xfrm>
                <a:off x="3657600" y="1589493"/>
                <a:ext cx="1295400" cy="457200"/>
              </a:xfrm>
              <a:prstGeom prst="wedgeRectCallout">
                <a:avLst>
                  <a:gd name="adj1" fmla="val -20297"/>
                  <a:gd name="adj2" fmla="val 87293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639219" y="1643202"/>
                <a:ext cx="1328643" cy="393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smtClean="0"/>
                  <a:t>P(F2=0|F1=0)= % 90</a:t>
                </a:r>
              </a:p>
              <a:p>
                <a:r>
                  <a:rPr lang="en-US" sz="800" dirty="0" smtClean="0"/>
                  <a:t>P(F2=1|F1=1)= % 90</a:t>
                </a:r>
                <a:endParaRPr lang="en-US" sz="800" dirty="0"/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6499691" y="2901551"/>
            <a:ext cx="1934580" cy="789404"/>
            <a:chOff x="1328605" y="3384783"/>
            <a:chExt cx="2336925" cy="925431"/>
          </a:xfrm>
        </p:grpSpPr>
        <p:grpSp>
          <p:nvGrpSpPr>
            <p:cNvPr id="82" name="Group 81"/>
            <p:cNvGrpSpPr/>
            <p:nvPr/>
          </p:nvGrpSpPr>
          <p:grpSpPr>
            <a:xfrm>
              <a:off x="1498213" y="3873613"/>
              <a:ext cx="753836" cy="430271"/>
              <a:chOff x="1295400" y="2286000"/>
              <a:chExt cx="1066800" cy="533400"/>
            </a:xfrm>
          </p:grpSpPr>
          <p:sp>
            <p:nvSpPr>
              <p:cNvPr id="93" name="Oval 92"/>
              <p:cNvSpPr/>
              <p:nvPr/>
            </p:nvSpPr>
            <p:spPr>
              <a:xfrm>
                <a:off x="1295400" y="228600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416627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F1</a:t>
                </a:r>
                <a:endParaRPr lang="en-US" sz="1200" dirty="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2939409" y="3879942"/>
              <a:ext cx="726121" cy="430272"/>
              <a:chOff x="3429000" y="2260930"/>
              <a:chExt cx="1066800" cy="533400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3429000" y="2260930"/>
                <a:ext cx="1066800" cy="5334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3564712" y="2389129"/>
                <a:ext cx="8382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smtClean="0"/>
                  <a:t>F2</a:t>
                </a:r>
                <a:endParaRPr lang="en-US" sz="1200" dirty="0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1328605" y="3384783"/>
              <a:ext cx="1067613" cy="372950"/>
              <a:chOff x="796731" y="1687288"/>
              <a:chExt cx="1149737" cy="409211"/>
            </a:xfrm>
          </p:grpSpPr>
          <p:sp>
            <p:nvSpPr>
              <p:cNvPr id="89" name="Rectangular Callout 88"/>
              <p:cNvSpPr/>
              <p:nvPr/>
            </p:nvSpPr>
            <p:spPr>
              <a:xfrm flipH="1">
                <a:off x="914400" y="1687288"/>
                <a:ext cx="914400" cy="409211"/>
              </a:xfrm>
              <a:prstGeom prst="wedgeRectCallout">
                <a:avLst>
                  <a:gd name="adj1" fmla="val -26725"/>
                  <a:gd name="adj2" fmla="val 8564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796731" y="1723549"/>
                <a:ext cx="1149737" cy="29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P(F1=1)= % </a:t>
                </a:r>
                <a:r>
                  <a:rPr lang="en-US" sz="900" dirty="0"/>
                  <a:t>1</a:t>
                </a:r>
                <a:r>
                  <a:rPr lang="en-US" sz="900" dirty="0" smtClean="0"/>
                  <a:t>0</a:t>
                </a:r>
                <a:endParaRPr lang="en-US" sz="900" dirty="0"/>
              </a:p>
            </p:txBody>
          </p:sp>
        </p:grpSp>
      </p:grpSp>
      <p:cxnSp>
        <p:nvCxnSpPr>
          <p:cNvPr id="96" name="Straight Connector 95"/>
          <p:cNvCxnSpPr/>
          <p:nvPr/>
        </p:nvCxnSpPr>
        <p:spPr>
          <a:xfrm>
            <a:off x="3048000" y="1600200"/>
            <a:ext cx="0" cy="23622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5962493" y="1600200"/>
            <a:ext cx="0" cy="2381901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566031" y="38862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(a)</a:t>
            </a:r>
            <a:endParaRPr lang="en-US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4404341" y="39624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(b)</a:t>
            </a:r>
            <a:endParaRPr lang="en-US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7179379" y="3886200"/>
            <a:ext cx="54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(c)</a:t>
            </a:r>
            <a:endParaRPr lang="en-US" b="1" dirty="0"/>
          </a:p>
        </p:txBody>
      </p:sp>
      <p:sp>
        <p:nvSpPr>
          <p:cNvPr id="104" name="Rectangular Callout 103"/>
          <p:cNvSpPr/>
          <p:nvPr/>
        </p:nvSpPr>
        <p:spPr>
          <a:xfrm>
            <a:off x="4887701" y="1725686"/>
            <a:ext cx="735563" cy="346603"/>
          </a:xfrm>
          <a:prstGeom prst="wedgeRectCallout">
            <a:avLst>
              <a:gd name="adj1" fmla="val -20297"/>
              <a:gd name="adj2" fmla="val 872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4841828" y="1745538"/>
            <a:ext cx="906437" cy="22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P(F2=1)= % 50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4856986" y="2871996"/>
            <a:ext cx="1057260" cy="393336"/>
            <a:chOff x="3566670" y="4255532"/>
            <a:chExt cx="1057260" cy="393336"/>
          </a:xfrm>
        </p:grpSpPr>
        <p:sp>
          <p:nvSpPr>
            <p:cNvPr id="106" name="Rectangular Callout 105"/>
            <p:cNvSpPr/>
            <p:nvPr/>
          </p:nvSpPr>
          <p:spPr>
            <a:xfrm>
              <a:off x="3580820" y="4255532"/>
              <a:ext cx="1030807" cy="393336"/>
            </a:xfrm>
            <a:prstGeom prst="wedgeRectCallout">
              <a:avLst>
                <a:gd name="adj1" fmla="val -20297"/>
                <a:gd name="adj2" fmla="val 8729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66670" y="4256539"/>
              <a:ext cx="1057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P(F2=0|F1=0)= % 90</a:t>
              </a:r>
            </a:p>
            <a:p>
              <a:r>
                <a:rPr lang="en-US" sz="800" dirty="0" smtClean="0"/>
                <a:t>P(F2=1|F1=1)= % 90</a:t>
              </a:r>
              <a:endParaRPr lang="en-US" sz="800" dirty="0"/>
            </a:p>
          </p:txBody>
        </p:sp>
      </p:grpSp>
      <p:cxnSp>
        <p:nvCxnSpPr>
          <p:cNvPr id="109" name="Straight Arrow Connector 108"/>
          <p:cNvCxnSpPr/>
          <p:nvPr/>
        </p:nvCxnSpPr>
        <p:spPr>
          <a:xfrm>
            <a:off x="4526610" y="3566987"/>
            <a:ext cx="57579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3" idx="6"/>
          </p:cNvCxnSpPr>
          <p:nvPr/>
        </p:nvCxnSpPr>
        <p:spPr>
          <a:xfrm>
            <a:off x="7264147" y="3502042"/>
            <a:ext cx="604694" cy="133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/>
          <p:cNvGrpSpPr/>
          <p:nvPr/>
        </p:nvGrpSpPr>
        <p:grpSpPr>
          <a:xfrm>
            <a:off x="7617154" y="2804284"/>
            <a:ext cx="1057260" cy="393336"/>
            <a:chOff x="3566670" y="4255532"/>
            <a:chExt cx="1057260" cy="393336"/>
          </a:xfrm>
        </p:grpSpPr>
        <p:sp>
          <p:nvSpPr>
            <p:cNvPr id="112" name="Rectangular Callout 111"/>
            <p:cNvSpPr/>
            <p:nvPr/>
          </p:nvSpPr>
          <p:spPr>
            <a:xfrm>
              <a:off x="3580820" y="4255532"/>
              <a:ext cx="1030807" cy="393336"/>
            </a:xfrm>
            <a:prstGeom prst="wedgeRectCallout">
              <a:avLst>
                <a:gd name="adj1" fmla="val -20297"/>
                <a:gd name="adj2" fmla="val 8729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566670" y="4256539"/>
              <a:ext cx="10572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smtClean="0"/>
                <a:t>P(F2=0|F1=0)= % 90</a:t>
              </a:r>
            </a:p>
            <a:p>
              <a:r>
                <a:rPr lang="en-US" sz="800" dirty="0" smtClean="0"/>
                <a:t>P(F2=1|F1=1)= % 90</a:t>
              </a:r>
              <a:endParaRPr lang="en-US" sz="800" dirty="0"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3124200" y="3276600"/>
            <a:ext cx="913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Object 2</a:t>
            </a:r>
            <a:endParaRPr lang="en-US" sz="1200" b="1" dirty="0"/>
          </a:p>
        </p:txBody>
      </p:sp>
      <p:sp>
        <p:nvSpPr>
          <p:cNvPr id="98" name="TextBox 97"/>
          <p:cNvSpPr txBox="1"/>
          <p:nvPr/>
        </p:nvSpPr>
        <p:spPr>
          <a:xfrm>
            <a:off x="3124200" y="2133600"/>
            <a:ext cx="913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Object 1</a:t>
            </a:r>
            <a:endParaRPr lang="en-US" sz="1200" b="1" dirty="0"/>
          </a:p>
        </p:txBody>
      </p:sp>
      <p:sp>
        <p:nvSpPr>
          <p:cNvPr id="99" name="TextBox 98"/>
          <p:cNvSpPr txBox="1"/>
          <p:nvPr/>
        </p:nvSpPr>
        <p:spPr>
          <a:xfrm>
            <a:off x="6019800" y="2133600"/>
            <a:ext cx="913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Object 1</a:t>
            </a:r>
            <a:endParaRPr lang="en-US" sz="1200" b="1" dirty="0"/>
          </a:p>
        </p:txBody>
      </p:sp>
      <p:sp>
        <p:nvSpPr>
          <p:cNvPr id="114" name="TextBox 113"/>
          <p:cNvSpPr txBox="1"/>
          <p:nvPr/>
        </p:nvSpPr>
        <p:spPr>
          <a:xfrm>
            <a:off x="152400" y="3429000"/>
            <a:ext cx="913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Object 2</a:t>
            </a:r>
            <a:endParaRPr lang="en-US" sz="1200" b="1" dirty="0"/>
          </a:p>
        </p:txBody>
      </p:sp>
      <p:sp>
        <p:nvSpPr>
          <p:cNvPr id="115" name="TextBox 114"/>
          <p:cNvSpPr txBox="1"/>
          <p:nvPr/>
        </p:nvSpPr>
        <p:spPr>
          <a:xfrm>
            <a:off x="5943600" y="3276600"/>
            <a:ext cx="913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Object 2</a:t>
            </a:r>
            <a:endParaRPr lang="en-US" sz="1200" b="1" dirty="0"/>
          </a:p>
        </p:txBody>
      </p:sp>
    </p:spTree>
    <p:extLst>
      <p:ext uri="{BB962C8B-B14F-4D97-AF65-F5344CB8AC3E}">
        <p14:creationId xmlns="" xmlns:p14="http://schemas.microsoft.com/office/powerpoint/2010/main" val="377298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2133600" y="1676400"/>
            <a:ext cx="1905000" cy="685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286000" y="1752600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 smtClean="0"/>
              <a:t>HomeTeam</a:t>
            </a:r>
            <a:endParaRPr lang="en-US" sz="1400" b="1" dirty="0" smtClean="0"/>
          </a:p>
          <a:p>
            <a:pPr algn="ctr"/>
            <a:r>
              <a:rPr lang="en-US" sz="1000" dirty="0" err="1" smtClean="0"/>
              <a:t>TeamID</a:t>
            </a:r>
            <a:r>
              <a:rPr lang="en-US" sz="1000" dirty="0" smtClean="0"/>
              <a:t>, </a:t>
            </a:r>
            <a:r>
              <a:rPr lang="en-US" sz="1000" dirty="0" err="1" smtClean="0"/>
              <a:t>goals,shotEff</a:t>
            </a:r>
            <a:r>
              <a:rPr lang="en-US" sz="1000" dirty="0" smtClean="0"/>
              <a:t>,…</a:t>
            </a:r>
            <a:endParaRPr lang="en-US" sz="1000" dirty="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3200400" y="1371600"/>
            <a:ext cx="1219200" cy="3385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0" y="2362200"/>
            <a:ext cx="1143000" cy="40011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Shot Efficiency, Tackle Efficiency </a:t>
            </a:r>
            <a:endParaRPr lang="en-US" sz="1000" dirty="0"/>
          </a:p>
        </p:txBody>
      </p:sp>
      <p:grpSp>
        <p:nvGrpSpPr>
          <p:cNvPr id="10" name="Group 9"/>
          <p:cNvGrpSpPr/>
          <p:nvPr/>
        </p:nvGrpSpPr>
        <p:grpSpPr>
          <a:xfrm>
            <a:off x="3733800" y="685800"/>
            <a:ext cx="1447799" cy="668944"/>
            <a:chOff x="1676400" y="2302856"/>
            <a:chExt cx="1447799" cy="668944"/>
          </a:xfrm>
        </p:grpSpPr>
        <p:sp>
          <p:nvSpPr>
            <p:cNvPr id="11" name="Oval 10"/>
            <p:cNvSpPr/>
            <p:nvPr/>
          </p:nvSpPr>
          <p:spPr>
            <a:xfrm>
              <a:off x="1676400" y="2302856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52600" y="24384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/>
                <a:t>Match</a:t>
              </a:r>
            </a:p>
            <a:p>
              <a:pPr algn="ctr"/>
              <a:r>
                <a:rPr lang="en-US" sz="1000" dirty="0" err="1" smtClean="0"/>
                <a:t>MatchID</a:t>
              </a:r>
              <a:r>
                <a:rPr lang="en-US" sz="1000" dirty="0" smtClean="0"/>
                <a:t>, Result</a:t>
              </a:r>
              <a:endParaRPr lang="en-US" sz="10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76800" y="1676400"/>
            <a:ext cx="1905000" cy="685800"/>
            <a:chOff x="1676400" y="2150456"/>
            <a:chExt cx="1905000" cy="821344"/>
          </a:xfrm>
        </p:grpSpPr>
        <p:sp>
          <p:nvSpPr>
            <p:cNvPr id="23" name="Oval 22"/>
            <p:cNvSpPr/>
            <p:nvPr/>
          </p:nvSpPr>
          <p:spPr>
            <a:xfrm>
              <a:off x="1676400" y="2150456"/>
              <a:ext cx="1905000" cy="8213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28800" y="2150456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AwayTeam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TeamID</a:t>
              </a:r>
              <a:r>
                <a:rPr lang="en-US" sz="1000" dirty="0" smtClean="0"/>
                <a:t>, </a:t>
              </a:r>
              <a:r>
                <a:rPr lang="en-US" sz="1000" dirty="0" err="1" smtClean="0"/>
                <a:t>goals,shotEff</a:t>
              </a:r>
              <a:r>
                <a:rPr lang="en-US" sz="1000" dirty="0" smtClean="0"/>
                <a:t>,…</a:t>
              </a:r>
              <a:endParaRPr lang="en-US" sz="1000" dirty="0"/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>
            <a:off x="4419600" y="1371600"/>
            <a:ext cx="1371600" cy="32165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00600" y="12192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err="1" smtClean="0"/>
              <a:t>TeamFormation</a:t>
            </a:r>
            <a:endParaRPr lang="en-US" sz="10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2362200" y="2743200"/>
            <a:ext cx="1447799" cy="668944"/>
            <a:chOff x="838200" y="2590800"/>
            <a:chExt cx="1447799" cy="668944"/>
          </a:xfrm>
        </p:grpSpPr>
        <p:sp>
          <p:nvSpPr>
            <p:cNvPr id="39" name="Oval 38"/>
            <p:cNvSpPr/>
            <p:nvPr/>
          </p:nvSpPr>
          <p:spPr>
            <a:xfrm>
              <a:off x="838200" y="25908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0600" y="26670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HomePlayer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PlayerID</a:t>
              </a:r>
              <a:r>
                <a:rPr lang="en-US" sz="1000" dirty="0" smtClean="0"/>
                <a:t>, Position</a:t>
              </a:r>
              <a:endParaRPr lang="en-US" sz="1000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181600" y="2743200"/>
            <a:ext cx="1447799" cy="668944"/>
            <a:chOff x="838200" y="2590800"/>
            <a:chExt cx="1447799" cy="668944"/>
          </a:xfrm>
        </p:grpSpPr>
        <p:sp>
          <p:nvSpPr>
            <p:cNvPr id="45" name="Oval 44"/>
            <p:cNvSpPr/>
            <p:nvPr/>
          </p:nvSpPr>
          <p:spPr>
            <a:xfrm>
              <a:off x="838200" y="2590800"/>
              <a:ext cx="1447799" cy="66894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0600" y="26670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err="1" smtClean="0"/>
                <a:t>AwayPlayer</a:t>
              </a:r>
              <a:endParaRPr lang="en-US" sz="1400" b="1" dirty="0" smtClean="0"/>
            </a:p>
            <a:p>
              <a:pPr algn="ctr"/>
              <a:r>
                <a:rPr lang="en-US" sz="1000" dirty="0" err="1" smtClean="0"/>
                <a:t>PlayerID</a:t>
              </a:r>
              <a:r>
                <a:rPr lang="en-US" sz="1000" dirty="0" smtClean="0"/>
                <a:t>, Position</a:t>
              </a:r>
              <a:endParaRPr lang="en-US" sz="1000" dirty="0"/>
            </a:p>
          </p:txBody>
        </p:sp>
      </p:grpSp>
      <p:cxnSp>
        <p:nvCxnSpPr>
          <p:cNvPr id="50" name="Straight Arrow Connector 49"/>
          <p:cNvCxnSpPr>
            <a:stCxn id="17" idx="4"/>
            <a:endCxn id="39" idx="0"/>
          </p:cNvCxnSpPr>
          <p:nvPr/>
        </p:nvCxnSpPr>
        <p:spPr>
          <a:xfrm>
            <a:off x="3086100" y="2362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3" idx="4"/>
            <a:endCxn id="45" idx="0"/>
          </p:cNvCxnSpPr>
          <p:nvPr/>
        </p:nvCxnSpPr>
        <p:spPr>
          <a:xfrm>
            <a:off x="5829300" y="2362200"/>
            <a:ext cx="762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895600" y="12954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err="1" smtClean="0"/>
              <a:t>TeamFormation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3200400" y="23622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Goals, </a:t>
            </a:r>
            <a:r>
              <a:rPr lang="en-US" sz="1000" dirty="0" err="1" smtClean="0"/>
              <a:t>TimePlayed</a:t>
            </a:r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4648200" y="2362200"/>
            <a:ext cx="1143000" cy="400110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Shot Efficiency, Tackle Efficiency 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6019800" y="2438400"/>
            <a:ext cx="1143000" cy="246221"/>
          </a:xfrm>
          <a:prstGeom prst="rect">
            <a:avLst/>
          </a:prstGeom>
          <a:noFill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Goals, </a:t>
            </a:r>
            <a:r>
              <a:rPr lang="en-US" sz="1000" dirty="0" err="1" smtClean="0"/>
              <a:t>TimePlayed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52400" y="1905000"/>
          <a:ext cx="1676400" cy="868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CP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Prior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0.95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Content Placeholder 7"/>
          <p:cNvGraphicFramePr>
            <a:graphicFrameLocks/>
          </p:cNvGraphicFramePr>
          <p:nvPr/>
        </p:nvGraphicFramePr>
        <p:xfrm>
          <a:off x="152400" y="3352800"/>
          <a:ext cx="1676400" cy="868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MULT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Freq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0.02</a:t>
                      </a:r>
                      <a:endParaRPr lang="en-US" sz="800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36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0.47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38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>
            <a:off x="1981200" y="2286000"/>
            <a:ext cx="152400" cy="76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1" name="Right Arrow 10"/>
          <p:cNvSpPr/>
          <p:nvPr/>
        </p:nvSpPr>
        <p:spPr>
          <a:xfrm>
            <a:off x="1981200" y="3733800"/>
            <a:ext cx="152400" cy="76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graphicFrame>
        <p:nvGraphicFramePr>
          <p:cNvPr id="12" name="Content Placeholder 7"/>
          <p:cNvGraphicFramePr>
            <a:graphicFrameLocks/>
          </p:cNvGraphicFramePr>
          <p:nvPr/>
        </p:nvGraphicFramePr>
        <p:xfrm>
          <a:off x="2209800" y="1905000"/>
          <a:ext cx="1676400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CP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Prior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0.95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fa-IR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Content Placeholder 7"/>
          <p:cNvGraphicFramePr>
            <a:graphicFrameLocks/>
          </p:cNvGraphicFramePr>
          <p:nvPr/>
        </p:nvGraphicFramePr>
        <p:xfrm>
          <a:off x="2209800" y="3352800"/>
          <a:ext cx="1676400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MULT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Freq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0.0</a:t>
                      </a:r>
                      <a:r>
                        <a:rPr lang="fa-IR" sz="800" dirty="0" smtClean="0"/>
                        <a:t>3</a:t>
                      </a:r>
                      <a:endParaRPr lang="en-US" sz="800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36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0.47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38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fa-IR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Down Arrow 13"/>
          <p:cNvSpPr/>
          <p:nvPr/>
        </p:nvSpPr>
        <p:spPr>
          <a:xfrm>
            <a:off x="2362200" y="4495800"/>
            <a:ext cx="1524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graphicFrame>
        <p:nvGraphicFramePr>
          <p:cNvPr id="15" name="Content Placeholder 7"/>
          <p:cNvGraphicFramePr>
            <a:graphicFrameLocks/>
          </p:cNvGraphicFramePr>
          <p:nvPr/>
        </p:nvGraphicFramePr>
        <p:xfrm>
          <a:off x="2438400" y="4800600"/>
          <a:ext cx="1447801" cy="108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38"/>
                <a:gridCol w="452438"/>
                <a:gridCol w="542925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feature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f2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f3</a:t>
                      </a:r>
                      <a:endParaRPr lang="en-US" sz="800" dirty="0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lang="fa-IR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f4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Curved Left Arrow 17"/>
          <p:cNvSpPr/>
          <p:nvPr/>
        </p:nvSpPr>
        <p:spPr>
          <a:xfrm>
            <a:off x="3886200" y="2819400"/>
            <a:ext cx="304800" cy="2133600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4191000" y="1828800"/>
            <a:ext cx="1676400" cy="2346960"/>
            <a:chOff x="4572000" y="1828800"/>
            <a:chExt cx="1676400" cy="2346960"/>
          </a:xfrm>
        </p:grpSpPr>
        <p:graphicFrame>
          <p:nvGraphicFramePr>
            <p:cNvPr id="19" name="Content Placeholder 7"/>
            <p:cNvGraphicFramePr>
              <a:graphicFrameLocks/>
            </p:cNvGraphicFramePr>
            <p:nvPr/>
          </p:nvGraphicFramePr>
          <p:xfrm>
            <a:off x="4572000" y="3733800"/>
            <a:ext cx="1676400" cy="44196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381000"/>
                  <a:gridCol w="381000"/>
                  <a:gridCol w="457200"/>
                  <a:gridCol w="457200"/>
                </a:tblGrid>
                <a:tr h="22860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f1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800" dirty="0" smtClean="0"/>
                          <a:t>f2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f3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f4</a:t>
                        </a:r>
                        <a:endParaRPr lang="en-US" sz="800" dirty="0"/>
                      </a:p>
                    </a:txBody>
                    <a:tcPr/>
                  </a:tc>
                </a:tr>
                <a:tr h="21336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0.03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0.47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</a:t>
                        </a:r>
                        <a:endParaRPr lang="en-US" sz="800" dirty="0"/>
                      </a:p>
                    </a:txBody>
                    <a:tcPr/>
                  </a:tc>
                </a:tr>
              </a:tbl>
            </a:graphicData>
          </a:graphic>
        </p:graphicFrame>
        <p:graphicFrame>
          <p:nvGraphicFramePr>
            <p:cNvPr id="20" name="Content Placeholder 7"/>
            <p:cNvGraphicFramePr>
              <a:graphicFrameLocks/>
            </p:cNvGraphicFramePr>
            <p:nvPr/>
          </p:nvGraphicFramePr>
          <p:xfrm>
            <a:off x="4572000" y="2057400"/>
            <a:ext cx="1676400" cy="44196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381000"/>
                  <a:gridCol w="381000"/>
                  <a:gridCol w="457200"/>
                  <a:gridCol w="457200"/>
                </a:tblGrid>
                <a:tr h="22860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f1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800" dirty="0" smtClean="0"/>
                          <a:t>f2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f3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f4</a:t>
                        </a:r>
                        <a:endParaRPr lang="en-US" sz="800" dirty="0"/>
                      </a:p>
                    </a:txBody>
                    <a:tcPr/>
                  </a:tc>
                </a:tr>
                <a:tr h="21336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</a:t>
                        </a:r>
                        <a:endParaRPr lang="en-US" sz="800" dirty="0"/>
                      </a:p>
                    </a:txBody>
                    <a:tcPr/>
                  </a:tc>
                </a:tr>
              </a:tbl>
            </a:graphicData>
          </a:graphic>
        </p:graphicFrame>
        <p:graphicFrame>
          <p:nvGraphicFramePr>
            <p:cNvPr id="21" name="Content Placeholder 7"/>
            <p:cNvGraphicFramePr>
              <a:graphicFrameLocks/>
            </p:cNvGraphicFramePr>
            <p:nvPr/>
          </p:nvGraphicFramePr>
          <p:xfrm>
            <a:off x="4572000" y="2819400"/>
            <a:ext cx="1676400" cy="441960"/>
          </p:xfrm>
          <a:graphic>
            <a:graphicData uri="http://schemas.openxmlformats.org/drawingml/2006/table">
              <a:tbl>
                <a:tblPr firstRow="1" bandRow="1">
                  <a:tableStyleId>{5940675A-B579-460E-94D1-54222C63F5DA}</a:tableStyleId>
                </a:tblPr>
                <a:tblGrid>
                  <a:gridCol w="381000"/>
                  <a:gridCol w="381000"/>
                  <a:gridCol w="457200"/>
                  <a:gridCol w="457200"/>
                </a:tblGrid>
                <a:tr h="22860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f1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sz="800" dirty="0" smtClean="0"/>
                          <a:t>f2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f3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f4</a:t>
                        </a:r>
                        <a:endParaRPr lang="en-US" sz="800" dirty="0"/>
                      </a:p>
                    </a:txBody>
                    <a:tcPr/>
                  </a:tc>
                </a:tr>
                <a:tr h="213360"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1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0.95</a:t>
                        </a:r>
                        <a:endParaRPr lang="en-US" sz="80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rtl="0"/>
                        <a:r>
                          <a:rPr lang="en-US" sz="800" dirty="0" smtClean="0"/>
                          <a:t>0</a:t>
                        </a:r>
                        <a:endParaRPr lang="en-US" sz="800" dirty="0"/>
                      </a:p>
                    </a:txBody>
                    <a:tcPr/>
                  </a:tc>
                </a:tr>
              </a:tbl>
            </a:graphicData>
          </a:graphic>
        </p:graphicFrame>
        <p:sp>
          <p:nvSpPr>
            <p:cNvPr id="22" name="TextBox 21"/>
            <p:cNvSpPr txBox="1"/>
            <p:nvPr/>
          </p:nvSpPr>
          <p:spPr>
            <a:xfrm>
              <a:off x="4572000" y="1828800"/>
              <a:ext cx="1447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Prior Vector</a:t>
              </a:r>
              <a:endParaRPr lang="en-US" sz="1000" b="1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72000" y="2590800"/>
              <a:ext cx="1447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CP Vector</a:t>
              </a:r>
              <a:endParaRPr lang="en-US" sz="10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572000" y="3505200"/>
              <a:ext cx="1447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 smtClean="0"/>
                <a:t>Freq Vector</a:t>
              </a:r>
              <a:endParaRPr lang="en-US" sz="1000" b="1" dirty="0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52400" y="16002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CP Table</a:t>
            </a:r>
            <a:endParaRPr lang="en-US" sz="1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52400" y="30480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CT Table</a:t>
            </a:r>
            <a:endParaRPr lang="en-US" sz="10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133600" y="16002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Smooth CP Table</a:t>
            </a:r>
            <a:endParaRPr lang="en-US" sz="1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209800" y="30480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Smooth CT Table</a:t>
            </a:r>
            <a:endParaRPr lang="en-US" sz="1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371600" y="50292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Feature Set</a:t>
            </a:r>
            <a:endParaRPr 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76200" y="1524000"/>
            <a:ext cx="5943600" cy="438912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6096000" y="1524000"/>
            <a:ext cx="2194560" cy="484632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graphicFrame>
        <p:nvGraphicFramePr>
          <p:cNvPr id="47" name="Content Placeholder 7"/>
          <p:cNvGraphicFramePr>
            <a:graphicFrameLocks/>
          </p:cNvGraphicFramePr>
          <p:nvPr/>
        </p:nvGraphicFramePr>
        <p:xfrm>
          <a:off x="6324600" y="1828800"/>
          <a:ext cx="1295400" cy="655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CP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Prior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6248400" y="15240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CP Table</a:t>
            </a:r>
            <a:endParaRPr lang="en-US" sz="1000" b="1" dirty="0"/>
          </a:p>
        </p:txBody>
      </p:sp>
      <p:graphicFrame>
        <p:nvGraphicFramePr>
          <p:cNvPr id="52" name="Content Placeholder 7"/>
          <p:cNvGraphicFramePr>
            <a:graphicFrameLocks/>
          </p:cNvGraphicFramePr>
          <p:nvPr/>
        </p:nvGraphicFramePr>
        <p:xfrm>
          <a:off x="6324600" y="3048000"/>
          <a:ext cx="1295400" cy="655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457200"/>
                <a:gridCol w="4572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MULT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Freq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38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38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248400" y="27432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CT Table</a:t>
            </a:r>
            <a:endParaRPr lang="en-US" sz="1000" b="1" dirty="0"/>
          </a:p>
        </p:txBody>
      </p:sp>
      <p:graphicFrame>
        <p:nvGraphicFramePr>
          <p:cNvPr id="54" name="Content Placeholder 7"/>
          <p:cNvGraphicFramePr>
            <a:graphicFrameLocks/>
          </p:cNvGraphicFramePr>
          <p:nvPr/>
        </p:nvGraphicFramePr>
        <p:xfrm>
          <a:off x="6705600" y="4114800"/>
          <a:ext cx="838200" cy="655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/>
                <a:gridCol w="5334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Feature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f2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6248400" y="38100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Feature Set</a:t>
            </a:r>
            <a:endParaRPr lang="en-US" sz="1000" b="1" dirty="0"/>
          </a:p>
        </p:txBody>
      </p:sp>
      <p:sp>
        <p:nvSpPr>
          <p:cNvPr id="57" name="Down Arrow 56"/>
          <p:cNvSpPr/>
          <p:nvPr/>
        </p:nvSpPr>
        <p:spPr>
          <a:xfrm>
            <a:off x="7086600" y="3810000"/>
            <a:ext cx="1524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59" name="Curved Left Arrow 58"/>
          <p:cNvSpPr/>
          <p:nvPr/>
        </p:nvSpPr>
        <p:spPr>
          <a:xfrm>
            <a:off x="7620000" y="2362200"/>
            <a:ext cx="304800" cy="2209800"/>
          </a:xfrm>
          <a:prstGeom prst="curved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graphicFrame>
        <p:nvGraphicFramePr>
          <p:cNvPr id="62" name="Content Placeholder 7"/>
          <p:cNvGraphicFramePr>
            <a:graphicFrameLocks/>
          </p:cNvGraphicFramePr>
          <p:nvPr/>
        </p:nvGraphicFramePr>
        <p:xfrm>
          <a:off x="6248400" y="5105400"/>
          <a:ext cx="7620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172200" y="48768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Prior Vector</a:t>
            </a:r>
            <a:endParaRPr lang="en-US" sz="1000" b="1" dirty="0"/>
          </a:p>
        </p:txBody>
      </p:sp>
      <p:graphicFrame>
        <p:nvGraphicFramePr>
          <p:cNvPr id="64" name="Content Placeholder 7"/>
          <p:cNvGraphicFramePr>
            <a:graphicFrameLocks/>
          </p:cNvGraphicFramePr>
          <p:nvPr/>
        </p:nvGraphicFramePr>
        <p:xfrm>
          <a:off x="7391400" y="5105400"/>
          <a:ext cx="7620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7315200" y="48768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CP Vector</a:t>
            </a:r>
            <a:endParaRPr lang="en-US" sz="1000" b="1" dirty="0"/>
          </a:p>
        </p:txBody>
      </p:sp>
      <p:graphicFrame>
        <p:nvGraphicFramePr>
          <p:cNvPr id="68" name="Content Placeholder 7"/>
          <p:cNvGraphicFramePr>
            <a:graphicFrameLocks/>
          </p:cNvGraphicFramePr>
          <p:nvPr/>
        </p:nvGraphicFramePr>
        <p:xfrm>
          <a:off x="6781800" y="5867400"/>
          <a:ext cx="7620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381000"/>
              </a:tblGrid>
              <a:tr h="22860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f1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f2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6705600" y="5638800"/>
            <a:ext cx="1066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Freq Vector</a:t>
            </a:r>
            <a:endParaRPr lang="en-US" sz="10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2286000" y="1143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F2</a:t>
            </a:r>
            <a:endParaRPr lang="en-US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6400800" y="11430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 1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4089</TotalTime>
  <Words>318</Words>
  <Application>Microsoft Office PowerPoint</Application>
  <PresentationFormat>On-screen Show (4:3)</PresentationFormat>
  <Paragraphs>216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>Simon Fraser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Riahi</dc:creator>
  <cp:lastModifiedBy>Fatemeh Riahi</cp:lastModifiedBy>
  <cp:revision>39</cp:revision>
  <dcterms:created xsi:type="dcterms:W3CDTF">2014-10-02T22:13:31Z</dcterms:created>
  <dcterms:modified xsi:type="dcterms:W3CDTF">2014-12-17T19:29:10Z</dcterms:modified>
</cp:coreProperties>
</file>